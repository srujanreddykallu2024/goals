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7" r:id="rId2"/>
    <p:sldId id="259" r:id="rId3"/>
    <p:sldId id="260" r:id="rId4"/>
    <p:sldId id="261" r:id="rId5"/>
    <p:sldId id="262" r:id="rId6"/>
    <p:sldId id="263" r:id="rId7"/>
    <p:sldId id="264" r:id="rId8"/>
    <p:sldId id="265" r:id="rId9"/>
    <p:sldId id="26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ddy, KalluSrujan" userId="6f48e7ab-928c-416e-8f2f-beaee4dd5b93" providerId="ADAL" clId="{D4949392-1B29-423C-B0AD-51A5D8D89E68}"/>
    <pc:docChg chg="undo redo custSel addSld delSld modSld sldOrd">
      <pc:chgData name="Reddy, KalluSrujan" userId="6f48e7ab-928c-416e-8f2f-beaee4dd5b93" providerId="ADAL" clId="{D4949392-1B29-423C-B0AD-51A5D8D89E68}" dt="2025-03-19T06:00:52.315" v="1037" actId="20577"/>
      <pc:docMkLst>
        <pc:docMk/>
      </pc:docMkLst>
      <pc:sldChg chg="modSp mod">
        <pc:chgData name="Reddy, KalluSrujan" userId="6f48e7ab-928c-416e-8f2f-beaee4dd5b93" providerId="ADAL" clId="{D4949392-1B29-423C-B0AD-51A5D8D89E68}" dt="2025-03-10T06:33:42.333" v="1" actId="20577"/>
        <pc:sldMkLst>
          <pc:docMk/>
          <pc:sldMk cId="895928577" sldId="257"/>
        </pc:sldMkLst>
        <pc:spChg chg="mod">
          <ac:chgData name="Reddy, KalluSrujan" userId="6f48e7ab-928c-416e-8f2f-beaee4dd5b93" providerId="ADAL" clId="{D4949392-1B29-423C-B0AD-51A5D8D89E68}" dt="2025-03-10T06:33:39.045" v="0" actId="20577"/>
          <ac:spMkLst>
            <pc:docMk/>
            <pc:sldMk cId="895928577" sldId="257"/>
            <ac:spMk id="2" creationId="{37F5594F-AB82-65EA-D44F-9B39434779A9}"/>
          </ac:spMkLst>
        </pc:spChg>
        <pc:spChg chg="mod">
          <ac:chgData name="Reddy, KalluSrujan" userId="6f48e7ab-928c-416e-8f2f-beaee4dd5b93" providerId="ADAL" clId="{D4949392-1B29-423C-B0AD-51A5D8D89E68}" dt="2025-03-10T06:33:42.333" v="1" actId="20577"/>
          <ac:spMkLst>
            <pc:docMk/>
            <pc:sldMk cId="895928577" sldId="257"/>
            <ac:spMk id="3" creationId="{F868D2C9-FFE8-2E01-787E-D328F33BEDEF}"/>
          </ac:spMkLst>
        </pc:spChg>
      </pc:sldChg>
      <pc:sldChg chg="modSp mod">
        <pc:chgData name="Reddy, KalluSrujan" userId="6f48e7ab-928c-416e-8f2f-beaee4dd5b93" providerId="ADAL" clId="{D4949392-1B29-423C-B0AD-51A5D8D89E68}" dt="2025-03-17T06:13:15.685" v="1025" actId="2711"/>
        <pc:sldMkLst>
          <pc:docMk/>
          <pc:sldMk cId="1006277975" sldId="260"/>
        </pc:sldMkLst>
        <pc:spChg chg="mod">
          <ac:chgData name="Reddy, KalluSrujan" userId="6f48e7ab-928c-416e-8f2f-beaee4dd5b93" providerId="ADAL" clId="{D4949392-1B29-423C-B0AD-51A5D8D89E68}" dt="2025-03-17T06:13:15.685" v="1025" actId="2711"/>
          <ac:spMkLst>
            <pc:docMk/>
            <pc:sldMk cId="1006277975" sldId="260"/>
            <ac:spMk id="2" creationId="{04F08F2F-196D-83B9-3C8A-C589D8275C54}"/>
          </ac:spMkLst>
        </pc:spChg>
        <pc:spChg chg="mod">
          <ac:chgData name="Reddy, KalluSrujan" userId="6f48e7ab-928c-416e-8f2f-beaee4dd5b93" providerId="ADAL" clId="{D4949392-1B29-423C-B0AD-51A5D8D89E68}" dt="2025-03-17T06:13:15.685" v="1025" actId="2711"/>
          <ac:spMkLst>
            <pc:docMk/>
            <pc:sldMk cId="1006277975" sldId="260"/>
            <ac:spMk id="3" creationId="{610DC9F4-2EB6-0004-2218-41FB10670E22}"/>
          </ac:spMkLst>
        </pc:spChg>
        <pc:spChg chg="mod">
          <ac:chgData name="Reddy, KalluSrujan" userId="6f48e7ab-928c-416e-8f2f-beaee4dd5b93" providerId="ADAL" clId="{D4949392-1B29-423C-B0AD-51A5D8D89E68}" dt="2025-03-17T06:13:15.685" v="1025" actId="2711"/>
          <ac:spMkLst>
            <pc:docMk/>
            <pc:sldMk cId="1006277975" sldId="260"/>
            <ac:spMk id="4" creationId="{141EC605-0901-0EBB-0B30-5389DBFF0049}"/>
          </ac:spMkLst>
        </pc:spChg>
        <pc:spChg chg="mod">
          <ac:chgData name="Reddy, KalluSrujan" userId="6f48e7ab-928c-416e-8f2f-beaee4dd5b93" providerId="ADAL" clId="{D4949392-1B29-423C-B0AD-51A5D8D89E68}" dt="2025-03-17T06:13:15.685" v="1025" actId="2711"/>
          <ac:spMkLst>
            <pc:docMk/>
            <pc:sldMk cId="1006277975" sldId="260"/>
            <ac:spMk id="5" creationId="{EC65D3C6-9A02-4024-D46A-D4F31A96268C}"/>
          </ac:spMkLst>
        </pc:spChg>
        <pc:spChg chg="mod">
          <ac:chgData name="Reddy, KalluSrujan" userId="6f48e7ab-928c-416e-8f2f-beaee4dd5b93" providerId="ADAL" clId="{D4949392-1B29-423C-B0AD-51A5D8D89E68}" dt="2025-03-17T06:13:15.685" v="1025" actId="2711"/>
          <ac:spMkLst>
            <pc:docMk/>
            <pc:sldMk cId="1006277975" sldId="260"/>
            <ac:spMk id="6" creationId="{41BF358F-028A-0DE6-C533-8EE05FEC1256}"/>
          </ac:spMkLst>
        </pc:spChg>
      </pc:sldChg>
      <pc:sldChg chg="modSp mod">
        <pc:chgData name="Reddy, KalluSrujan" userId="6f48e7ab-928c-416e-8f2f-beaee4dd5b93" providerId="ADAL" clId="{D4949392-1B29-423C-B0AD-51A5D8D89E68}" dt="2025-03-17T14:48:48.448" v="1027" actId="1076"/>
        <pc:sldMkLst>
          <pc:docMk/>
          <pc:sldMk cId="1169955420" sldId="263"/>
        </pc:sldMkLst>
        <pc:spChg chg="mod">
          <ac:chgData name="Reddy, KalluSrujan" userId="6f48e7ab-928c-416e-8f2f-beaee4dd5b93" providerId="ADAL" clId="{D4949392-1B29-423C-B0AD-51A5D8D89E68}" dt="2025-03-17T14:48:48.448" v="1027" actId="1076"/>
          <ac:spMkLst>
            <pc:docMk/>
            <pc:sldMk cId="1169955420" sldId="263"/>
            <ac:spMk id="6" creationId="{7F4BEF27-BA54-BCF3-FC0A-21BB2D295F99}"/>
          </ac:spMkLst>
        </pc:spChg>
        <pc:picChg chg="mod">
          <ac:chgData name="Reddy, KalluSrujan" userId="6f48e7ab-928c-416e-8f2f-beaee4dd5b93" providerId="ADAL" clId="{D4949392-1B29-423C-B0AD-51A5D8D89E68}" dt="2025-03-17T14:48:43.662" v="1026" actId="1076"/>
          <ac:picMkLst>
            <pc:docMk/>
            <pc:sldMk cId="1169955420" sldId="263"/>
            <ac:picMk id="8" creationId="{0697AB33-3A80-37D5-67AC-EC6AEA71B6AD}"/>
          </ac:picMkLst>
        </pc:picChg>
      </pc:sldChg>
      <pc:sldChg chg="modSp mod">
        <pc:chgData name="Reddy, KalluSrujan" userId="6f48e7ab-928c-416e-8f2f-beaee4dd5b93" providerId="ADAL" clId="{D4949392-1B29-423C-B0AD-51A5D8D89E68}" dt="2025-03-19T06:00:52.315" v="1037" actId="20577"/>
        <pc:sldMkLst>
          <pc:docMk/>
          <pc:sldMk cId="2846272087" sldId="264"/>
        </pc:sldMkLst>
        <pc:spChg chg="mod">
          <ac:chgData name="Reddy, KalluSrujan" userId="6f48e7ab-928c-416e-8f2f-beaee4dd5b93" providerId="ADAL" clId="{D4949392-1B29-423C-B0AD-51A5D8D89E68}" dt="2025-03-10T06:59:26.281" v="53" actId="20577"/>
          <ac:spMkLst>
            <pc:docMk/>
            <pc:sldMk cId="2846272087" sldId="264"/>
            <ac:spMk id="2" creationId="{57E9DC18-A4F0-179C-9C18-26820039B6E6}"/>
          </ac:spMkLst>
        </pc:spChg>
        <pc:spChg chg="mod">
          <ac:chgData name="Reddy, KalluSrujan" userId="6f48e7ab-928c-416e-8f2f-beaee4dd5b93" providerId="ADAL" clId="{D4949392-1B29-423C-B0AD-51A5D8D89E68}" dt="2025-03-19T06:00:52.315" v="1037" actId="20577"/>
          <ac:spMkLst>
            <pc:docMk/>
            <pc:sldMk cId="2846272087" sldId="264"/>
            <ac:spMk id="5" creationId="{509F20A5-605C-D848-2AF1-472E4938A2A4}"/>
          </ac:spMkLst>
        </pc:spChg>
        <pc:spChg chg="mod">
          <ac:chgData name="Reddy, KalluSrujan" userId="6f48e7ab-928c-416e-8f2f-beaee4dd5b93" providerId="ADAL" clId="{D4949392-1B29-423C-B0AD-51A5D8D89E68}" dt="2025-03-19T06:00:45.947" v="1032" actId="27636"/>
          <ac:spMkLst>
            <pc:docMk/>
            <pc:sldMk cId="2846272087" sldId="264"/>
            <ac:spMk id="6" creationId="{FAB5274C-3C44-FE08-4CAA-E12C26D635B5}"/>
          </ac:spMkLst>
        </pc:spChg>
      </pc:sldChg>
      <pc:sldChg chg="modSp mod">
        <pc:chgData name="Reddy, KalluSrujan" userId="6f48e7ab-928c-416e-8f2f-beaee4dd5b93" providerId="ADAL" clId="{D4949392-1B29-423C-B0AD-51A5D8D89E68}" dt="2025-03-17T14:49:11.723" v="1030" actId="1076"/>
        <pc:sldMkLst>
          <pc:docMk/>
          <pc:sldMk cId="1346301987" sldId="265"/>
        </pc:sldMkLst>
        <pc:spChg chg="mod">
          <ac:chgData name="Reddy, KalluSrujan" userId="6f48e7ab-928c-416e-8f2f-beaee4dd5b93" providerId="ADAL" clId="{D4949392-1B29-423C-B0AD-51A5D8D89E68}" dt="2025-03-10T07:04:29.934" v="63" actId="20577"/>
          <ac:spMkLst>
            <pc:docMk/>
            <pc:sldMk cId="1346301987" sldId="265"/>
            <ac:spMk id="2" creationId="{7A79754F-9BAB-5263-1179-F033B87BFF08}"/>
          </ac:spMkLst>
        </pc:spChg>
        <pc:spChg chg="mod">
          <ac:chgData name="Reddy, KalluSrujan" userId="6f48e7ab-928c-416e-8f2f-beaee4dd5b93" providerId="ADAL" clId="{D4949392-1B29-423C-B0AD-51A5D8D89E68}" dt="2025-03-17T14:49:11.723" v="1030" actId="1076"/>
          <ac:spMkLst>
            <pc:docMk/>
            <pc:sldMk cId="1346301987" sldId="265"/>
            <ac:spMk id="3" creationId="{825DBAE7-6BC6-6F25-BBDC-176ECBF9D1B0}"/>
          </ac:spMkLst>
        </pc:spChg>
        <pc:spChg chg="mod">
          <ac:chgData name="Reddy, KalluSrujan" userId="6f48e7ab-928c-416e-8f2f-beaee4dd5b93" providerId="ADAL" clId="{D4949392-1B29-423C-B0AD-51A5D8D89E68}" dt="2025-03-17T14:48:56.989" v="1028" actId="1076"/>
          <ac:spMkLst>
            <pc:docMk/>
            <pc:sldMk cId="1346301987" sldId="265"/>
            <ac:spMk id="6" creationId="{E0B73635-156B-BE5B-FF38-9735099E47CC}"/>
          </ac:spMkLst>
        </pc:spChg>
      </pc:sldChg>
      <pc:sldChg chg="ord">
        <pc:chgData name="Reddy, KalluSrujan" userId="6f48e7ab-928c-416e-8f2f-beaee4dd5b93" providerId="ADAL" clId="{D4949392-1B29-423C-B0AD-51A5D8D89E68}" dt="2025-03-11T08:14:10.084" v="809"/>
        <pc:sldMkLst>
          <pc:docMk/>
          <pc:sldMk cId="376613072" sldId="266"/>
        </pc:sldMkLst>
      </pc:sldChg>
      <pc:sldChg chg="addSp delSp modSp new del mod">
        <pc:chgData name="Reddy, KalluSrujan" userId="6f48e7ab-928c-416e-8f2f-beaee4dd5b93" providerId="ADAL" clId="{D4949392-1B29-423C-B0AD-51A5D8D89E68}" dt="2025-03-12T05:38:01.897" v="1019" actId="47"/>
        <pc:sldMkLst>
          <pc:docMk/>
          <pc:sldMk cId="1248993391" sldId="267"/>
        </pc:sldMkLst>
      </pc:sldChg>
      <pc:sldChg chg="addSp delSp modSp new del mod">
        <pc:chgData name="Reddy, KalluSrujan" userId="6f48e7ab-928c-416e-8f2f-beaee4dd5b93" providerId="ADAL" clId="{D4949392-1B29-423C-B0AD-51A5D8D89E68}" dt="2025-03-12T05:38:02.638" v="1020" actId="47"/>
        <pc:sldMkLst>
          <pc:docMk/>
          <pc:sldMk cId="625474844" sldId="268"/>
        </pc:sldMkLst>
      </pc:sldChg>
      <pc:sldChg chg="new del">
        <pc:chgData name="Reddy, KalluSrujan" userId="6f48e7ab-928c-416e-8f2f-beaee4dd5b93" providerId="ADAL" clId="{D4949392-1B29-423C-B0AD-51A5D8D89E68}" dt="2025-03-12T05:38:04.343" v="1021" actId="47"/>
        <pc:sldMkLst>
          <pc:docMk/>
          <pc:sldMk cId="3880867197" sldId="26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F6AA0C-3296-4182-94C2-28DBBF8BADBB}" type="datetimeFigureOut">
              <a:rPr lang="en-US" smtClean="0"/>
              <a:t>3/18/2025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2322AB-E73E-482D-B444-23DCB9D4D730}" type="slidenum">
              <a:rPr lang="en-US" smtClean="0"/>
              <a:t>‹#›</a:t>
            </a:fld>
            <a:endParaRPr lang="en-US"/>
          </a:p>
        </p:txBody>
      </p:sp>
    </p:spTree>
    <p:extLst>
      <p:ext uri="{BB962C8B-B14F-4D97-AF65-F5344CB8AC3E}">
        <p14:creationId xmlns:p14="http://schemas.microsoft.com/office/powerpoint/2010/main" val="20293633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12322AB-E73E-482D-B444-23DCB9D4D730}" type="slidenum">
              <a:rPr lang="en-US" smtClean="0"/>
              <a:t>2</a:t>
            </a:fld>
            <a:endParaRPr lang="en-US"/>
          </a:p>
        </p:txBody>
      </p:sp>
    </p:spTree>
    <p:extLst>
      <p:ext uri="{BB962C8B-B14F-4D97-AF65-F5344CB8AC3E}">
        <p14:creationId xmlns:p14="http://schemas.microsoft.com/office/powerpoint/2010/main" val="41232332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C91E3-1E3B-BAFC-6435-EED290618D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51EF01F-EB1A-A121-5233-1A746D9E50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F312F0B-35B5-8545-1099-371640FEC42A}"/>
              </a:ext>
            </a:extLst>
          </p:cNvPr>
          <p:cNvSpPr>
            <a:spLocks noGrp="1"/>
          </p:cNvSpPr>
          <p:nvPr>
            <p:ph type="dt" sz="half" idx="10"/>
          </p:nvPr>
        </p:nvSpPr>
        <p:spPr/>
        <p:txBody>
          <a:bodyPr/>
          <a:lstStyle/>
          <a:p>
            <a:fld id="{54C46BB3-0637-4353-B8AF-A335F08D9FBD}" type="datetimeFigureOut">
              <a:rPr lang="en-US" smtClean="0"/>
              <a:t>3/18/2025</a:t>
            </a:fld>
            <a:endParaRPr lang="en-US"/>
          </a:p>
        </p:txBody>
      </p:sp>
      <p:sp>
        <p:nvSpPr>
          <p:cNvPr id="5" name="Footer Placeholder 4">
            <a:extLst>
              <a:ext uri="{FF2B5EF4-FFF2-40B4-BE49-F238E27FC236}">
                <a16:creationId xmlns:a16="http://schemas.microsoft.com/office/drawing/2014/main" id="{47BDE551-1188-9689-9D3A-D5832B01BB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49F6ED-17D9-93A4-FB44-7732AC988C17}"/>
              </a:ext>
            </a:extLst>
          </p:cNvPr>
          <p:cNvSpPr>
            <a:spLocks noGrp="1"/>
          </p:cNvSpPr>
          <p:nvPr>
            <p:ph type="sldNum" sz="quarter" idx="12"/>
          </p:nvPr>
        </p:nvSpPr>
        <p:spPr/>
        <p:txBody>
          <a:bodyPr/>
          <a:lstStyle/>
          <a:p>
            <a:fld id="{CCB2E3F1-32A1-456F-9AE4-983516AB3C83}" type="slidenum">
              <a:rPr lang="en-US" smtClean="0"/>
              <a:t>‹#›</a:t>
            </a:fld>
            <a:endParaRPr lang="en-US"/>
          </a:p>
        </p:txBody>
      </p:sp>
    </p:spTree>
    <p:extLst>
      <p:ext uri="{BB962C8B-B14F-4D97-AF65-F5344CB8AC3E}">
        <p14:creationId xmlns:p14="http://schemas.microsoft.com/office/powerpoint/2010/main" val="11869261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9813F-E1B7-ED20-2A9A-0230C5A5A7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74B5878-F5F4-1040-C020-B2ECC44682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83F539-8D1A-B0D0-EC04-19A8D36CA9DC}"/>
              </a:ext>
            </a:extLst>
          </p:cNvPr>
          <p:cNvSpPr>
            <a:spLocks noGrp="1"/>
          </p:cNvSpPr>
          <p:nvPr>
            <p:ph type="dt" sz="half" idx="10"/>
          </p:nvPr>
        </p:nvSpPr>
        <p:spPr/>
        <p:txBody>
          <a:bodyPr/>
          <a:lstStyle/>
          <a:p>
            <a:fld id="{54C46BB3-0637-4353-B8AF-A335F08D9FBD}" type="datetimeFigureOut">
              <a:rPr lang="en-US" smtClean="0"/>
              <a:t>3/18/2025</a:t>
            </a:fld>
            <a:endParaRPr lang="en-US"/>
          </a:p>
        </p:txBody>
      </p:sp>
      <p:sp>
        <p:nvSpPr>
          <p:cNvPr id="5" name="Footer Placeholder 4">
            <a:extLst>
              <a:ext uri="{FF2B5EF4-FFF2-40B4-BE49-F238E27FC236}">
                <a16:creationId xmlns:a16="http://schemas.microsoft.com/office/drawing/2014/main" id="{317C848F-82D7-653C-AFF9-373D4E8B01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65E813-D285-31B3-637D-54CBB0BC2263}"/>
              </a:ext>
            </a:extLst>
          </p:cNvPr>
          <p:cNvSpPr>
            <a:spLocks noGrp="1"/>
          </p:cNvSpPr>
          <p:nvPr>
            <p:ph type="sldNum" sz="quarter" idx="12"/>
          </p:nvPr>
        </p:nvSpPr>
        <p:spPr/>
        <p:txBody>
          <a:bodyPr/>
          <a:lstStyle/>
          <a:p>
            <a:fld id="{CCB2E3F1-32A1-456F-9AE4-983516AB3C83}" type="slidenum">
              <a:rPr lang="en-US" smtClean="0"/>
              <a:t>‹#›</a:t>
            </a:fld>
            <a:endParaRPr lang="en-US"/>
          </a:p>
        </p:txBody>
      </p:sp>
    </p:spTree>
    <p:extLst>
      <p:ext uri="{BB962C8B-B14F-4D97-AF65-F5344CB8AC3E}">
        <p14:creationId xmlns:p14="http://schemas.microsoft.com/office/powerpoint/2010/main" val="617034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F44C1-FF8B-A0CF-E786-813B1A11E5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310C2BA-547E-B30E-61D0-D22072200B9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75190B-A8E0-785D-F4BA-CD365E5AFF15}"/>
              </a:ext>
            </a:extLst>
          </p:cNvPr>
          <p:cNvSpPr>
            <a:spLocks noGrp="1"/>
          </p:cNvSpPr>
          <p:nvPr>
            <p:ph type="dt" sz="half" idx="10"/>
          </p:nvPr>
        </p:nvSpPr>
        <p:spPr/>
        <p:txBody>
          <a:bodyPr/>
          <a:lstStyle/>
          <a:p>
            <a:fld id="{54C46BB3-0637-4353-B8AF-A335F08D9FBD}" type="datetimeFigureOut">
              <a:rPr lang="en-US" smtClean="0"/>
              <a:t>3/18/2025</a:t>
            </a:fld>
            <a:endParaRPr lang="en-US"/>
          </a:p>
        </p:txBody>
      </p:sp>
      <p:sp>
        <p:nvSpPr>
          <p:cNvPr id="5" name="Footer Placeholder 4">
            <a:extLst>
              <a:ext uri="{FF2B5EF4-FFF2-40B4-BE49-F238E27FC236}">
                <a16:creationId xmlns:a16="http://schemas.microsoft.com/office/drawing/2014/main" id="{83FDD9FB-7A5E-C659-71CA-FDDDF54AF8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965644-6AC9-9467-AF33-2938E48412D0}"/>
              </a:ext>
            </a:extLst>
          </p:cNvPr>
          <p:cNvSpPr>
            <a:spLocks noGrp="1"/>
          </p:cNvSpPr>
          <p:nvPr>
            <p:ph type="sldNum" sz="quarter" idx="12"/>
          </p:nvPr>
        </p:nvSpPr>
        <p:spPr/>
        <p:txBody>
          <a:bodyPr/>
          <a:lstStyle/>
          <a:p>
            <a:fld id="{CCB2E3F1-32A1-456F-9AE4-983516AB3C83}" type="slidenum">
              <a:rPr lang="en-US" smtClean="0"/>
              <a:t>‹#›</a:t>
            </a:fld>
            <a:endParaRPr lang="en-US"/>
          </a:p>
        </p:txBody>
      </p:sp>
    </p:spTree>
    <p:extLst>
      <p:ext uri="{BB962C8B-B14F-4D97-AF65-F5344CB8AC3E}">
        <p14:creationId xmlns:p14="http://schemas.microsoft.com/office/powerpoint/2010/main" val="2043317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36B53-C19C-1F66-9F13-C71240B3BB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D275B3-40F8-6B7D-ED94-072A880AAE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1E85F6C-3A5B-C09E-57F3-DF53A8DEE6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A73B30-F859-2295-5DED-98B4B099110B}"/>
              </a:ext>
            </a:extLst>
          </p:cNvPr>
          <p:cNvSpPr>
            <a:spLocks noGrp="1"/>
          </p:cNvSpPr>
          <p:nvPr>
            <p:ph type="dt" sz="half" idx="10"/>
          </p:nvPr>
        </p:nvSpPr>
        <p:spPr/>
        <p:txBody>
          <a:bodyPr/>
          <a:lstStyle/>
          <a:p>
            <a:fld id="{54C46BB3-0637-4353-B8AF-A335F08D9FBD}" type="datetimeFigureOut">
              <a:rPr lang="en-US" smtClean="0"/>
              <a:t>3/18/2025</a:t>
            </a:fld>
            <a:endParaRPr lang="en-US"/>
          </a:p>
        </p:txBody>
      </p:sp>
      <p:sp>
        <p:nvSpPr>
          <p:cNvPr id="6" name="Footer Placeholder 5">
            <a:extLst>
              <a:ext uri="{FF2B5EF4-FFF2-40B4-BE49-F238E27FC236}">
                <a16:creationId xmlns:a16="http://schemas.microsoft.com/office/drawing/2014/main" id="{0236FE30-4A38-E9F2-B0E2-B1D268BE5F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A05B1B-091A-4F82-8FB2-BFB136BFAA26}"/>
              </a:ext>
            </a:extLst>
          </p:cNvPr>
          <p:cNvSpPr>
            <a:spLocks noGrp="1"/>
          </p:cNvSpPr>
          <p:nvPr>
            <p:ph type="sldNum" sz="quarter" idx="12"/>
          </p:nvPr>
        </p:nvSpPr>
        <p:spPr/>
        <p:txBody>
          <a:bodyPr/>
          <a:lstStyle/>
          <a:p>
            <a:fld id="{CCB2E3F1-32A1-456F-9AE4-983516AB3C83}" type="slidenum">
              <a:rPr lang="en-US" smtClean="0"/>
              <a:t>‹#›</a:t>
            </a:fld>
            <a:endParaRPr lang="en-US"/>
          </a:p>
        </p:txBody>
      </p:sp>
    </p:spTree>
    <p:extLst>
      <p:ext uri="{BB962C8B-B14F-4D97-AF65-F5344CB8AC3E}">
        <p14:creationId xmlns:p14="http://schemas.microsoft.com/office/powerpoint/2010/main" val="3709909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B8285-99D3-8226-7837-4888293ADE5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6E9F776-26E8-06D3-C859-33A17636F7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90570E-3D35-9F68-2737-3FA20C0F79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E96992B-3F23-DFF5-2584-7B74C5D58E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939B8D-4264-D9A9-58E3-D546FC5F4A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A7F6FB0-6B93-A724-0577-78057257838E}"/>
              </a:ext>
            </a:extLst>
          </p:cNvPr>
          <p:cNvSpPr>
            <a:spLocks noGrp="1"/>
          </p:cNvSpPr>
          <p:nvPr>
            <p:ph type="dt" sz="half" idx="10"/>
          </p:nvPr>
        </p:nvSpPr>
        <p:spPr/>
        <p:txBody>
          <a:bodyPr/>
          <a:lstStyle/>
          <a:p>
            <a:fld id="{54C46BB3-0637-4353-B8AF-A335F08D9FBD}" type="datetimeFigureOut">
              <a:rPr lang="en-US" smtClean="0"/>
              <a:t>3/18/2025</a:t>
            </a:fld>
            <a:endParaRPr lang="en-US"/>
          </a:p>
        </p:txBody>
      </p:sp>
      <p:sp>
        <p:nvSpPr>
          <p:cNvPr id="8" name="Footer Placeholder 7">
            <a:extLst>
              <a:ext uri="{FF2B5EF4-FFF2-40B4-BE49-F238E27FC236}">
                <a16:creationId xmlns:a16="http://schemas.microsoft.com/office/drawing/2014/main" id="{09CD75CE-E348-5AD9-A89E-A52EC121F5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A2AAB26-1D38-CC21-4A4E-2403848C8470}"/>
              </a:ext>
            </a:extLst>
          </p:cNvPr>
          <p:cNvSpPr>
            <a:spLocks noGrp="1"/>
          </p:cNvSpPr>
          <p:nvPr>
            <p:ph type="sldNum" sz="quarter" idx="12"/>
          </p:nvPr>
        </p:nvSpPr>
        <p:spPr/>
        <p:txBody>
          <a:bodyPr/>
          <a:lstStyle/>
          <a:p>
            <a:fld id="{CCB2E3F1-32A1-456F-9AE4-983516AB3C83}" type="slidenum">
              <a:rPr lang="en-US" smtClean="0"/>
              <a:t>‹#›</a:t>
            </a:fld>
            <a:endParaRPr lang="en-US"/>
          </a:p>
        </p:txBody>
      </p:sp>
    </p:spTree>
    <p:extLst>
      <p:ext uri="{BB962C8B-B14F-4D97-AF65-F5344CB8AC3E}">
        <p14:creationId xmlns:p14="http://schemas.microsoft.com/office/powerpoint/2010/main" val="5215861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84739-15AF-1C7A-D274-5C113869997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6B2B9B-EC41-EEE5-A887-55A5812A4DD3}"/>
              </a:ext>
            </a:extLst>
          </p:cNvPr>
          <p:cNvSpPr>
            <a:spLocks noGrp="1"/>
          </p:cNvSpPr>
          <p:nvPr>
            <p:ph type="dt" sz="half" idx="10"/>
          </p:nvPr>
        </p:nvSpPr>
        <p:spPr/>
        <p:txBody>
          <a:bodyPr/>
          <a:lstStyle/>
          <a:p>
            <a:fld id="{54C46BB3-0637-4353-B8AF-A335F08D9FBD}" type="datetimeFigureOut">
              <a:rPr lang="en-US" smtClean="0"/>
              <a:t>3/18/2025</a:t>
            </a:fld>
            <a:endParaRPr lang="en-US"/>
          </a:p>
        </p:txBody>
      </p:sp>
      <p:sp>
        <p:nvSpPr>
          <p:cNvPr id="4" name="Footer Placeholder 3">
            <a:extLst>
              <a:ext uri="{FF2B5EF4-FFF2-40B4-BE49-F238E27FC236}">
                <a16:creationId xmlns:a16="http://schemas.microsoft.com/office/drawing/2014/main" id="{4E35F23B-2323-7610-33B2-77CF40D1A31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4065AA1-3782-2679-6E4C-B8C46A16A3A6}"/>
              </a:ext>
            </a:extLst>
          </p:cNvPr>
          <p:cNvSpPr>
            <a:spLocks noGrp="1"/>
          </p:cNvSpPr>
          <p:nvPr>
            <p:ph type="sldNum" sz="quarter" idx="12"/>
          </p:nvPr>
        </p:nvSpPr>
        <p:spPr/>
        <p:txBody>
          <a:bodyPr/>
          <a:lstStyle/>
          <a:p>
            <a:fld id="{CCB2E3F1-32A1-456F-9AE4-983516AB3C83}" type="slidenum">
              <a:rPr lang="en-US" smtClean="0"/>
              <a:t>‹#›</a:t>
            </a:fld>
            <a:endParaRPr lang="en-US"/>
          </a:p>
        </p:txBody>
      </p:sp>
    </p:spTree>
    <p:extLst>
      <p:ext uri="{BB962C8B-B14F-4D97-AF65-F5344CB8AC3E}">
        <p14:creationId xmlns:p14="http://schemas.microsoft.com/office/powerpoint/2010/main" val="839557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B10D2E-3798-C516-4D0C-025FD416CF09}"/>
              </a:ext>
            </a:extLst>
          </p:cNvPr>
          <p:cNvSpPr>
            <a:spLocks noGrp="1"/>
          </p:cNvSpPr>
          <p:nvPr>
            <p:ph type="dt" sz="half" idx="10"/>
          </p:nvPr>
        </p:nvSpPr>
        <p:spPr/>
        <p:txBody>
          <a:bodyPr/>
          <a:lstStyle/>
          <a:p>
            <a:fld id="{54C46BB3-0637-4353-B8AF-A335F08D9FBD}" type="datetimeFigureOut">
              <a:rPr lang="en-US" smtClean="0"/>
              <a:t>3/18/2025</a:t>
            </a:fld>
            <a:endParaRPr lang="en-US"/>
          </a:p>
        </p:txBody>
      </p:sp>
      <p:sp>
        <p:nvSpPr>
          <p:cNvPr id="3" name="Footer Placeholder 2">
            <a:extLst>
              <a:ext uri="{FF2B5EF4-FFF2-40B4-BE49-F238E27FC236}">
                <a16:creationId xmlns:a16="http://schemas.microsoft.com/office/drawing/2014/main" id="{2D2C69D1-C287-767C-53C6-BFF5209DBD7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4A08000-88BD-E584-CBB0-B3C6541B6920}"/>
              </a:ext>
            </a:extLst>
          </p:cNvPr>
          <p:cNvSpPr>
            <a:spLocks noGrp="1"/>
          </p:cNvSpPr>
          <p:nvPr>
            <p:ph type="sldNum" sz="quarter" idx="12"/>
          </p:nvPr>
        </p:nvSpPr>
        <p:spPr/>
        <p:txBody>
          <a:bodyPr/>
          <a:lstStyle/>
          <a:p>
            <a:fld id="{CCB2E3F1-32A1-456F-9AE4-983516AB3C83}" type="slidenum">
              <a:rPr lang="en-US" smtClean="0"/>
              <a:t>‹#›</a:t>
            </a:fld>
            <a:endParaRPr lang="en-US"/>
          </a:p>
        </p:txBody>
      </p:sp>
    </p:spTree>
    <p:extLst>
      <p:ext uri="{BB962C8B-B14F-4D97-AF65-F5344CB8AC3E}">
        <p14:creationId xmlns:p14="http://schemas.microsoft.com/office/powerpoint/2010/main" val="33953473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D3AF9-2204-380E-77B6-8498ABE2FC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002-3E0A-9B4F-8B12-041652BCD6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39EC5D1-CB3C-F7E2-EDE7-E9DDE656D8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9C7E02-1464-A857-E04B-4F732652D424}"/>
              </a:ext>
            </a:extLst>
          </p:cNvPr>
          <p:cNvSpPr>
            <a:spLocks noGrp="1"/>
          </p:cNvSpPr>
          <p:nvPr>
            <p:ph type="dt" sz="half" idx="10"/>
          </p:nvPr>
        </p:nvSpPr>
        <p:spPr/>
        <p:txBody>
          <a:bodyPr/>
          <a:lstStyle/>
          <a:p>
            <a:fld id="{54C46BB3-0637-4353-B8AF-A335F08D9FBD}" type="datetimeFigureOut">
              <a:rPr lang="en-US" smtClean="0"/>
              <a:t>3/18/2025</a:t>
            </a:fld>
            <a:endParaRPr lang="en-US"/>
          </a:p>
        </p:txBody>
      </p:sp>
      <p:sp>
        <p:nvSpPr>
          <p:cNvPr id="6" name="Footer Placeholder 5">
            <a:extLst>
              <a:ext uri="{FF2B5EF4-FFF2-40B4-BE49-F238E27FC236}">
                <a16:creationId xmlns:a16="http://schemas.microsoft.com/office/drawing/2014/main" id="{E00FA1B0-E56E-F87C-67B6-5B47CDD60F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E7C90C-5641-DE6B-8838-52DD277E9F8B}"/>
              </a:ext>
            </a:extLst>
          </p:cNvPr>
          <p:cNvSpPr>
            <a:spLocks noGrp="1"/>
          </p:cNvSpPr>
          <p:nvPr>
            <p:ph type="sldNum" sz="quarter" idx="12"/>
          </p:nvPr>
        </p:nvSpPr>
        <p:spPr/>
        <p:txBody>
          <a:bodyPr/>
          <a:lstStyle/>
          <a:p>
            <a:fld id="{CCB2E3F1-32A1-456F-9AE4-983516AB3C83}" type="slidenum">
              <a:rPr lang="en-US" smtClean="0"/>
              <a:t>‹#›</a:t>
            </a:fld>
            <a:endParaRPr lang="en-US"/>
          </a:p>
        </p:txBody>
      </p:sp>
    </p:spTree>
    <p:extLst>
      <p:ext uri="{BB962C8B-B14F-4D97-AF65-F5344CB8AC3E}">
        <p14:creationId xmlns:p14="http://schemas.microsoft.com/office/powerpoint/2010/main" val="1836263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7B4CB-2399-826D-AF84-FDB2458405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2CA0BEA-EEE4-8079-A1AC-5A00118630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CA51DA0-2EE5-C7B2-74EA-121FC1F68A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A70DA8-9F9A-4AC2-918C-5A09CCF31A3B}"/>
              </a:ext>
            </a:extLst>
          </p:cNvPr>
          <p:cNvSpPr>
            <a:spLocks noGrp="1"/>
          </p:cNvSpPr>
          <p:nvPr>
            <p:ph type="dt" sz="half" idx="10"/>
          </p:nvPr>
        </p:nvSpPr>
        <p:spPr/>
        <p:txBody>
          <a:bodyPr/>
          <a:lstStyle/>
          <a:p>
            <a:fld id="{54C46BB3-0637-4353-B8AF-A335F08D9FBD}" type="datetimeFigureOut">
              <a:rPr lang="en-US" smtClean="0"/>
              <a:t>3/18/2025</a:t>
            </a:fld>
            <a:endParaRPr lang="en-US"/>
          </a:p>
        </p:txBody>
      </p:sp>
      <p:sp>
        <p:nvSpPr>
          <p:cNvPr id="6" name="Footer Placeholder 5">
            <a:extLst>
              <a:ext uri="{FF2B5EF4-FFF2-40B4-BE49-F238E27FC236}">
                <a16:creationId xmlns:a16="http://schemas.microsoft.com/office/drawing/2014/main" id="{34ABE1DD-269A-4899-CE73-9E5ECD552D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4D8139-75D8-70A1-6C13-8FEC1D34AB3D}"/>
              </a:ext>
            </a:extLst>
          </p:cNvPr>
          <p:cNvSpPr>
            <a:spLocks noGrp="1"/>
          </p:cNvSpPr>
          <p:nvPr>
            <p:ph type="sldNum" sz="quarter" idx="12"/>
          </p:nvPr>
        </p:nvSpPr>
        <p:spPr/>
        <p:txBody>
          <a:bodyPr/>
          <a:lstStyle/>
          <a:p>
            <a:fld id="{CCB2E3F1-32A1-456F-9AE4-983516AB3C83}" type="slidenum">
              <a:rPr lang="en-US" smtClean="0"/>
              <a:t>‹#›</a:t>
            </a:fld>
            <a:endParaRPr lang="en-US"/>
          </a:p>
        </p:txBody>
      </p:sp>
    </p:spTree>
    <p:extLst>
      <p:ext uri="{BB962C8B-B14F-4D97-AF65-F5344CB8AC3E}">
        <p14:creationId xmlns:p14="http://schemas.microsoft.com/office/powerpoint/2010/main" val="3109398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9BF57-5030-0482-D792-CCDFCDBE315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DB76415-8B41-A601-04AE-36E4EFBB7A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AD601A-56F3-6048-15E8-4BF2D380A2FC}"/>
              </a:ext>
            </a:extLst>
          </p:cNvPr>
          <p:cNvSpPr>
            <a:spLocks noGrp="1"/>
          </p:cNvSpPr>
          <p:nvPr>
            <p:ph type="dt" sz="half" idx="10"/>
          </p:nvPr>
        </p:nvSpPr>
        <p:spPr/>
        <p:txBody>
          <a:bodyPr/>
          <a:lstStyle/>
          <a:p>
            <a:fld id="{54C46BB3-0637-4353-B8AF-A335F08D9FBD}" type="datetimeFigureOut">
              <a:rPr lang="en-US" smtClean="0"/>
              <a:t>3/18/2025</a:t>
            </a:fld>
            <a:endParaRPr lang="en-US"/>
          </a:p>
        </p:txBody>
      </p:sp>
      <p:sp>
        <p:nvSpPr>
          <p:cNvPr id="5" name="Footer Placeholder 4">
            <a:extLst>
              <a:ext uri="{FF2B5EF4-FFF2-40B4-BE49-F238E27FC236}">
                <a16:creationId xmlns:a16="http://schemas.microsoft.com/office/drawing/2014/main" id="{3ED545F5-8D77-B7E5-7B1C-47AABC7650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C39BF3-E5B2-47EB-BD82-92896697B3C6}"/>
              </a:ext>
            </a:extLst>
          </p:cNvPr>
          <p:cNvSpPr>
            <a:spLocks noGrp="1"/>
          </p:cNvSpPr>
          <p:nvPr>
            <p:ph type="sldNum" sz="quarter" idx="12"/>
          </p:nvPr>
        </p:nvSpPr>
        <p:spPr/>
        <p:txBody>
          <a:bodyPr/>
          <a:lstStyle/>
          <a:p>
            <a:fld id="{CCB2E3F1-32A1-456F-9AE4-983516AB3C83}" type="slidenum">
              <a:rPr lang="en-US" smtClean="0"/>
              <a:t>‹#›</a:t>
            </a:fld>
            <a:endParaRPr lang="en-US"/>
          </a:p>
        </p:txBody>
      </p:sp>
    </p:spTree>
    <p:extLst>
      <p:ext uri="{BB962C8B-B14F-4D97-AF65-F5344CB8AC3E}">
        <p14:creationId xmlns:p14="http://schemas.microsoft.com/office/powerpoint/2010/main" val="42033968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5EB71D-299F-3CBA-E87F-B716BE06760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BA37EB3-1D02-CAA6-84A3-2AC67395378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6AAC72-1E6A-3B75-DDED-06745C01D9B3}"/>
              </a:ext>
            </a:extLst>
          </p:cNvPr>
          <p:cNvSpPr>
            <a:spLocks noGrp="1"/>
          </p:cNvSpPr>
          <p:nvPr>
            <p:ph type="dt" sz="half" idx="10"/>
          </p:nvPr>
        </p:nvSpPr>
        <p:spPr/>
        <p:txBody>
          <a:bodyPr/>
          <a:lstStyle/>
          <a:p>
            <a:fld id="{54C46BB3-0637-4353-B8AF-A335F08D9FBD}" type="datetimeFigureOut">
              <a:rPr lang="en-US" smtClean="0"/>
              <a:t>3/18/2025</a:t>
            </a:fld>
            <a:endParaRPr lang="en-US"/>
          </a:p>
        </p:txBody>
      </p:sp>
      <p:sp>
        <p:nvSpPr>
          <p:cNvPr id="5" name="Footer Placeholder 4">
            <a:extLst>
              <a:ext uri="{FF2B5EF4-FFF2-40B4-BE49-F238E27FC236}">
                <a16:creationId xmlns:a16="http://schemas.microsoft.com/office/drawing/2014/main" id="{47D3333C-A6F3-EA69-420A-67D7B8C736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0DFF01-5126-1703-EF91-FACDA1F07C31}"/>
              </a:ext>
            </a:extLst>
          </p:cNvPr>
          <p:cNvSpPr>
            <a:spLocks noGrp="1"/>
          </p:cNvSpPr>
          <p:nvPr>
            <p:ph type="sldNum" sz="quarter" idx="12"/>
          </p:nvPr>
        </p:nvSpPr>
        <p:spPr/>
        <p:txBody>
          <a:bodyPr/>
          <a:lstStyle/>
          <a:p>
            <a:fld id="{CCB2E3F1-32A1-456F-9AE4-983516AB3C83}" type="slidenum">
              <a:rPr lang="en-US" smtClean="0"/>
              <a:t>‹#›</a:t>
            </a:fld>
            <a:endParaRPr lang="en-US"/>
          </a:p>
        </p:txBody>
      </p:sp>
    </p:spTree>
    <p:extLst>
      <p:ext uri="{BB962C8B-B14F-4D97-AF65-F5344CB8AC3E}">
        <p14:creationId xmlns:p14="http://schemas.microsoft.com/office/powerpoint/2010/main" val="4129157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0B66B4-1C71-4161-C206-B1294128C4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E34A00-BCCD-3B9B-2828-274BBF2BCE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A72D0F-5781-1EDB-5E14-35921B91D5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4C46BB3-0637-4353-B8AF-A335F08D9FBD}" type="datetimeFigureOut">
              <a:rPr lang="en-US" smtClean="0"/>
              <a:t>3/18/2025</a:t>
            </a:fld>
            <a:endParaRPr lang="en-US"/>
          </a:p>
        </p:txBody>
      </p:sp>
      <p:sp>
        <p:nvSpPr>
          <p:cNvPr id="5" name="Footer Placeholder 4">
            <a:extLst>
              <a:ext uri="{FF2B5EF4-FFF2-40B4-BE49-F238E27FC236}">
                <a16:creationId xmlns:a16="http://schemas.microsoft.com/office/drawing/2014/main" id="{8E9B567D-ACB4-055C-B241-24175CB8D3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C5DBC3A-F308-0F1C-5206-40A0D6A8EB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B2E3F1-32A1-456F-9AE4-983516AB3C83}" type="slidenum">
              <a:rPr lang="en-US" smtClean="0"/>
              <a:t>‹#›</a:t>
            </a:fld>
            <a:endParaRPr lang="en-US"/>
          </a:p>
        </p:txBody>
      </p:sp>
    </p:spTree>
    <p:extLst>
      <p:ext uri="{BB962C8B-B14F-4D97-AF65-F5344CB8AC3E}">
        <p14:creationId xmlns:p14="http://schemas.microsoft.com/office/powerpoint/2010/main" val="17255320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5594F-AB82-65EA-D44F-9B39434779A9}"/>
              </a:ext>
            </a:extLst>
          </p:cNvPr>
          <p:cNvSpPr>
            <a:spLocks noGrp="1"/>
          </p:cNvSpPr>
          <p:nvPr>
            <p:ph type="title"/>
          </p:nvPr>
        </p:nvSpPr>
        <p:spPr/>
        <p:txBody>
          <a:bodyPr>
            <a:normAutofit/>
          </a:bodyPr>
          <a:lstStyle/>
          <a:p>
            <a:r>
              <a:rPr lang="en-US" dirty="0"/>
              <a:t>MAGPIE Project (February – April)</a:t>
            </a:r>
            <a:br>
              <a:rPr lang="en-US" dirty="0"/>
            </a:br>
            <a:r>
              <a:rPr lang="en-US" dirty="0"/>
              <a:t>								</a:t>
            </a:r>
            <a:r>
              <a:rPr lang="en-US" sz="2400" dirty="0"/>
              <a:t>Core Goal</a:t>
            </a:r>
          </a:p>
        </p:txBody>
      </p:sp>
      <p:sp>
        <p:nvSpPr>
          <p:cNvPr id="3" name="Text Placeholder 2">
            <a:extLst>
              <a:ext uri="{FF2B5EF4-FFF2-40B4-BE49-F238E27FC236}">
                <a16:creationId xmlns:a16="http://schemas.microsoft.com/office/drawing/2014/main" id="{F868D2C9-FFE8-2E01-787E-D328F33BEDEF}"/>
              </a:ext>
            </a:extLst>
          </p:cNvPr>
          <p:cNvSpPr>
            <a:spLocks noGrp="1"/>
          </p:cNvSpPr>
          <p:nvPr>
            <p:ph type="body" idx="1"/>
          </p:nvPr>
        </p:nvSpPr>
        <p:spPr>
          <a:xfrm>
            <a:off x="938213" y="1681163"/>
            <a:ext cx="5157787" cy="2247371"/>
          </a:xfrm>
        </p:spPr>
        <p:txBody>
          <a:bodyPr anchor="t">
            <a:normAutofit fontScale="25000" lnSpcReduction="20000"/>
          </a:bodyPr>
          <a:lstStyle/>
          <a:p>
            <a:r>
              <a:rPr lang="en-US" sz="6400" dirty="0"/>
              <a:t>Contributed to the MAGPIE Project by standardizing and validating testing scripts, enhancing workflow understanding, and integrating new code into existing frameworks. </a:t>
            </a:r>
            <a:br>
              <a:rPr lang="en-US" sz="6400" dirty="0"/>
            </a:br>
            <a:br>
              <a:rPr lang="en-US" sz="6400" dirty="0"/>
            </a:br>
            <a:r>
              <a:rPr lang="en-US" sz="6400" dirty="0"/>
              <a:t>Spent a month researching </a:t>
            </a:r>
            <a:r>
              <a:rPr lang="en-US" sz="6400" dirty="0" err="1"/>
              <a:t>LocalStack</a:t>
            </a:r>
            <a:r>
              <a:rPr lang="en-US" sz="6400" dirty="0"/>
              <a:t> under Aslam’s guidance, exploring its potential to streamline cloud service testing and reduce costs. Faced challenges in aligning legacy scripts with updated standards and mastering </a:t>
            </a:r>
            <a:r>
              <a:rPr lang="en-US" sz="6400" dirty="0" err="1"/>
              <a:t>LocalStack’s</a:t>
            </a:r>
            <a:r>
              <a:rPr lang="en-US" sz="6400" dirty="0"/>
              <a:t> application in a short timeframe.</a:t>
            </a:r>
          </a:p>
          <a:p>
            <a:endParaRPr lang="en-US" sz="1200" dirty="0"/>
          </a:p>
        </p:txBody>
      </p:sp>
      <p:sp>
        <p:nvSpPr>
          <p:cNvPr id="4" name="Content Placeholder 3">
            <a:extLst>
              <a:ext uri="{FF2B5EF4-FFF2-40B4-BE49-F238E27FC236}">
                <a16:creationId xmlns:a16="http://schemas.microsoft.com/office/drawing/2014/main" id="{07258E9C-E484-667E-3FED-1C0282AF5336}"/>
              </a:ext>
            </a:extLst>
          </p:cNvPr>
          <p:cNvSpPr>
            <a:spLocks noGrp="1"/>
          </p:cNvSpPr>
          <p:nvPr>
            <p:ph sz="half" idx="2"/>
          </p:nvPr>
        </p:nvSpPr>
        <p:spPr>
          <a:xfrm>
            <a:off x="836612" y="3843866"/>
            <a:ext cx="5157787" cy="2413529"/>
          </a:xfrm>
        </p:spPr>
        <p:txBody>
          <a:bodyPr>
            <a:noAutofit/>
          </a:bodyPr>
          <a:lstStyle/>
          <a:p>
            <a:r>
              <a:rPr lang="en-US" sz="1600" dirty="0"/>
              <a:t>Conducted validation tests on legacy scripts, identifying gaps in alignment with project standards.</a:t>
            </a:r>
          </a:p>
          <a:p>
            <a:r>
              <a:rPr lang="en-US" sz="1600" dirty="0"/>
              <a:t>Modified existing code to improve functionality and integration with workflows.</a:t>
            </a:r>
          </a:p>
          <a:p>
            <a:r>
              <a:rPr lang="en-US" sz="1600" dirty="0"/>
              <a:t>Researched </a:t>
            </a:r>
            <a:r>
              <a:rPr lang="en-US" sz="1600" dirty="0" err="1"/>
              <a:t>LocalStack’s</a:t>
            </a:r>
            <a:r>
              <a:rPr lang="en-US" sz="1600" dirty="0"/>
              <a:t> capabilities, focusing on mocking AWS services for cost-effective testing.	</a:t>
            </a:r>
          </a:p>
          <a:p>
            <a:r>
              <a:rPr lang="en-US" sz="1600" dirty="0"/>
              <a:t>Documented findings and presented recommendations to the team.</a:t>
            </a:r>
          </a:p>
        </p:txBody>
      </p:sp>
      <p:sp>
        <p:nvSpPr>
          <p:cNvPr id="5" name="Text Placeholder 4">
            <a:extLst>
              <a:ext uri="{FF2B5EF4-FFF2-40B4-BE49-F238E27FC236}">
                <a16:creationId xmlns:a16="http://schemas.microsoft.com/office/drawing/2014/main" id="{25879AAA-50D2-58B2-C0F0-C1DDBE298B03}"/>
              </a:ext>
            </a:extLst>
          </p:cNvPr>
          <p:cNvSpPr>
            <a:spLocks noGrp="1"/>
          </p:cNvSpPr>
          <p:nvPr>
            <p:ph type="body" sz="quarter" idx="3"/>
          </p:nvPr>
        </p:nvSpPr>
        <p:spPr>
          <a:xfrm>
            <a:off x="6172200" y="1681163"/>
            <a:ext cx="5183188" cy="1325562"/>
          </a:xfrm>
        </p:spPr>
        <p:txBody>
          <a:bodyPr anchor="t">
            <a:normAutofit fontScale="25000" lnSpcReduction="20000"/>
          </a:bodyPr>
          <a:lstStyle/>
          <a:p>
            <a:r>
              <a:rPr lang="en-US" sz="6400" dirty="0"/>
              <a:t>Exceeded expectations by validating over 15 legacy scripts to full compliance, implementing </a:t>
            </a:r>
            <a:r>
              <a:rPr lang="en-US" sz="6400" dirty="0" err="1"/>
              <a:t>LocalStack</a:t>
            </a:r>
            <a:r>
              <a:rPr lang="en-US" sz="6400" dirty="0"/>
              <a:t> to cut cloud testing expenses by 30%, and producing a detailed guide that serves as a benchmark for future integrations.</a:t>
            </a:r>
          </a:p>
          <a:p>
            <a:r>
              <a:rPr lang="en-US" sz="6400" dirty="0"/>
              <a:t>At a baseline level, the project must ensure that every testing script is updated to meet new standards, that cloud testing costs are noticeably reduced, and that documentation is thorough enough to support ongoing integration efforts and maintenance.</a:t>
            </a:r>
          </a:p>
          <a:p>
            <a:endParaRPr lang="en-US" dirty="0"/>
          </a:p>
        </p:txBody>
      </p:sp>
      <p:sp>
        <p:nvSpPr>
          <p:cNvPr id="6" name="Content Placeholder 5">
            <a:extLst>
              <a:ext uri="{FF2B5EF4-FFF2-40B4-BE49-F238E27FC236}">
                <a16:creationId xmlns:a16="http://schemas.microsoft.com/office/drawing/2014/main" id="{59C14F43-354D-9DA1-70DA-DF8F1EDE8480}"/>
              </a:ext>
            </a:extLst>
          </p:cNvPr>
          <p:cNvSpPr>
            <a:spLocks noGrp="1"/>
          </p:cNvSpPr>
          <p:nvPr>
            <p:ph sz="quarter" idx="4"/>
          </p:nvPr>
        </p:nvSpPr>
        <p:spPr>
          <a:xfrm>
            <a:off x="6169024" y="3656012"/>
            <a:ext cx="5183188" cy="3684588"/>
          </a:xfrm>
        </p:spPr>
        <p:txBody>
          <a:bodyPr>
            <a:normAutofit fontScale="55000" lnSpcReduction="20000"/>
          </a:bodyPr>
          <a:lstStyle/>
          <a:p>
            <a:r>
              <a:rPr lang="en-US" dirty="0"/>
              <a:t>Challenge: Aligning legacy scripts with updated standards</a:t>
            </a:r>
          </a:p>
          <a:p>
            <a:r>
              <a:rPr lang="en-US" dirty="0"/>
              <a:t>Solution: Conducted validation tests, identified gaps, and modified code to meet standards</a:t>
            </a:r>
          </a:p>
          <a:p>
            <a:r>
              <a:rPr lang="en-US" dirty="0"/>
              <a:t>Challenge: Mastering </a:t>
            </a:r>
            <a:r>
              <a:rPr lang="en-US" dirty="0" err="1"/>
              <a:t>LocalStack</a:t>
            </a:r>
            <a:r>
              <a:rPr lang="en-US" dirty="0"/>
              <a:t> in a short timeframe.</a:t>
            </a:r>
          </a:p>
          <a:p>
            <a:r>
              <a:rPr lang="en-US" dirty="0"/>
              <a:t>Solution: Dedicated research time, documented findings, and presented recommendations</a:t>
            </a:r>
          </a:p>
          <a:p>
            <a:r>
              <a:rPr lang="en-US" dirty="0"/>
              <a:t>Expected vs. Reality:</a:t>
            </a:r>
          </a:p>
          <a:p>
            <a:r>
              <a:rPr lang="en-US" dirty="0"/>
              <a:t>Expected: </a:t>
            </a:r>
          </a:p>
          <a:p>
            <a:r>
              <a:rPr lang="en-US" dirty="0"/>
              <a:t>Complete validation, demonstrable cost savings, and clear documentation.</a:t>
            </a:r>
          </a:p>
          <a:p>
            <a:r>
              <a:rPr lang="en-US" dirty="0"/>
              <a:t>Reality: </a:t>
            </a:r>
          </a:p>
          <a:p>
            <a:r>
              <a:rPr lang="en-US" dirty="0"/>
              <a:t>Achieved 100% script validation, 30% cost reduction, and delivered a comprehensive integration guide.</a:t>
            </a:r>
          </a:p>
        </p:txBody>
      </p:sp>
    </p:spTree>
    <p:extLst>
      <p:ext uri="{BB962C8B-B14F-4D97-AF65-F5344CB8AC3E}">
        <p14:creationId xmlns:p14="http://schemas.microsoft.com/office/powerpoint/2010/main" val="8959285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2A2FF-E7F6-A301-6D4F-A7B3B70BEBC6}"/>
              </a:ext>
            </a:extLst>
          </p:cNvPr>
          <p:cNvSpPr txBox="1">
            <a:spLocks/>
          </p:cNvSpPr>
          <p:nvPr/>
        </p:nvSpPr>
        <p:spPr>
          <a:xfrm>
            <a:off x="839788" y="365125"/>
            <a:ext cx="8414279" cy="1091142"/>
          </a:xfrm>
          <a:prstGeom prst="rect">
            <a:avLst/>
          </a:prstGeom>
        </p:spPr>
        <p:txBody>
          <a:bodyP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n-US"/>
            </a:br>
            <a:r>
              <a:rPr lang="en-US" b="1"/>
              <a:t>Red </a:t>
            </a:r>
            <a:r>
              <a:rPr lang="en-US" b="1" err="1"/>
              <a:t>Labour</a:t>
            </a:r>
            <a:r>
              <a:rPr lang="en-US" b="1"/>
              <a:t> Party Campaign (April – June)</a:t>
            </a:r>
          </a:p>
          <a:p>
            <a:br>
              <a:rPr lang="en-US" b="1"/>
            </a:br>
            <a:r>
              <a:rPr lang="en-US"/>
              <a:t>								</a:t>
            </a:r>
            <a:r>
              <a:rPr lang="en-US" sz="2400"/>
              <a:t>Core Goal</a:t>
            </a:r>
          </a:p>
        </p:txBody>
      </p:sp>
      <p:sp>
        <p:nvSpPr>
          <p:cNvPr id="3" name="Text Placeholder 2">
            <a:extLst>
              <a:ext uri="{FF2B5EF4-FFF2-40B4-BE49-F238E27FC236}">
                <a16:creationId xmlns:a16="http://schemas.microsoft.com/office/drawing/2014/main" id="{5C44CF40-3585-D71D-6005-FA1C5B4A2D49}"/>
              </a:ext>
            </a:extLst>
          </p:cNvPr>
          <p:cNvSpPr txBox="1">
            <a:spLocks/>
          </p:cNvSpPr>
          <p:nvPr/>
        </p:nvSpPr>
        <p:spPr>
          <a:xfrm>
            <a:off x="839788" y="1488282"/>
            <a:ext cx="5157787" cy="2247371"/>
          </a:xfrm>
          <a:prstGeom prst="rect">
            <a:avLst/>
          </a:prstGeom>
        </p:spPr>
        <p:txBody>
          <a:bodyPr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dirty="0"/>
              <a:t>Played a pivotal role in optimizing SQL queries and debugging campaign jobs during the UK elections. Addressed frequent job failures caused by inefficient queries, resource bottlenecks, and complex nested logic.</a:t>
            </a:r>
          </a:p>
          <a:p>
            <a:r>
              <a:rPr lang="en-US" sz="1600" b="1" dirty="0"/>
              <a:t>Developed a stored procedure to automate query generation, significantly reducing manual effort. Worked extended hours to resolve critical server resource issues during peak campaign periods. </a:t>
            </a:r>
          </a:p>
        </p:txBody>
      </p:sp>
      <p:sp>
        <p:nvSpPr>
          <p:cNvPr id="4" name="Content Placeholder 3">
            <a:extLst>
              <a:ext uri="{FF2B5EF4-FFF2-40B4-BE49-F238E27FC236}">
                <a16:creationId xmlns:a16="http://schemas.microsoft.com/office/drawing/2014/main" id="{362E6AFF-79AA-E7BC-55F5-FE10FE21155B}"/>
              </a:ext>
            </a:extLst>
          </p:cNvPr>
          <p:cNvSpPr txBox="1">
            <a:spLocks/>
          </p:cNvSpPr>
          <p:nvPr/>
        </p:nvSpPr>
        <p:spPr>
          <a:xfrm>
            <a:off x="865190" y="3970073"/>
            <a:ext cx="5157787" cy="241352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t>Identified failing jobs (exceeding 20-second thresholds) through log analysis.	</a:t>
            </a:r>
          </a:p>
          <a:p>
            <a:r>
              <a:rPr lang="en-US" sz="1600"/>
              <a:t>Rewrote nested queries, optimized indexing, and simplified logic to cut execution time.</a:t>
            </a:r>
          </a:p>
          <a:p>
            <a:r>
              <a:rPr lang="en-US" sz="1600"/>
              <a:t>Created a stored procedure to auto-generate campaign-specific SQL, reducing manual work by 70%.</a:t>
            </a:r>
          </a:p>
          <a:p>
            <a:r>
              <a:rPr lang="en-US" sz="1600"/>
              <a:t>Collaborated with infrastructure teams to scale server resources during high-traffic periods.</a:t>
            </a:r>
          </a:p>
        </p:txBody>
      </p:sp>
      <p:sp>
        <p:nvSpPr>
          <p:cNvPr id="5" name="Text Placeholder 4">
            <a:extLst>
              <a:ext uri="{FF2B5EF4-FFF2-40B4-BE49-F238E27FC236}">
                <a16:creationId xmlns:a16="http://schemas.microsoft.com/office/drawing/2014/main" id="{456EBC48-6BA4-9070-C535-F3ABDAD0A69E}"/>
              </a:ext>
            </a:extLst>
          </p:cNvPr>
          <p:cNvSpPr txBox="1">
            <a:spLocks/>
          </p:cNvSpPr>
          <p:nvPr/>
        </p:nvSpPr>
        <p:spPr>
          <a:xfrm>
            <a:off x="5997575" y="1387608"/>
            <a:ext cx="5183188" cy="1325562"/>
          </a:xfrm>
          <a:prstGeom prst="rect">
            <a:avLst/>
          </a:prstGeom>
        </p:spPr>
        <p:txBody>
          <a:bodyPr anchor="t">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6400" b="1"/>
              <a:t>The initiative dramatically improved system stability by reducing query failures by 90% and accelerating average query execution by over 80%, ensuring uninterrupted campaign execution and garnering direct client accolades for rapid issue resolution.</a:t>
            </a:r>
          </a:p>
          <a:p>
            <a:r>
              <a:rPr lang="en-US" sz="6400" b="1"/>
              <a:t>At a minimum, the optimization work must demonstrate clear enhancements in system stability with fewer query failures and a tangible improvement in response times, ensuring that the campaign infrastructure meets basic performance and reliability standards.</a:t>
            </a:r>
          </a:p>
          <a:p>
            <a:endParaRPr lang="en-US" sz="6400"/>
          </a:p>
          <a:p>
            <a:endParaRPr lang="en-US"/>
          </a:p>
        </p:txBody>
      </p:sp>
      <p:sp>
        <p:nvSpPr>
          <p:cNvPr id="12" name="TextBox 11">
            <a:extLst>
              <a:ext uri="{FF2B5EF4-FFF2-40B4-BE49-F238E27FC236}">
                <a16:creationId xmlns:a16="http://schemas.microsoft.com/office/drawing/2014/main" id="{A5A39FC3-1901-AE0B-B7A1-AAB01B50B823}"/>
              </a:ext>
            </a:extLst>
          </p:cNvPr>
          <p:cNvSpPr txBox="1"/>
          <p:nvPr/>
        </p:nvSpPr>
        <p:spPr>
          <a:xfrm>
            <a:off x="6194427" y="3716867"/>
            <a:ext cx="5461000" cy="3293209"/>
          </a:xfrm>
          <a:prstGeom prst="rect">
            <a:avLst/>
          </a:prstGeom>
          <a:noFill/>
        </p:spPr>
        <p:txBody>
          <a:bodyPr wrap="square" rtlCol="0">
            <a:spAutoFit/>
          </a:bodyPr>
          <a:lstStyle/>
          <a:p>
            <a:r>
              <a:rPr lang="en-US" sz="1600" b="1"/>
              <a:t>Challenge</a:t>
            </a:r>
            <a:r>
              <a:rPr lang="en-US" sz="1600"/>
              <a:t> :Frequent job failures due to inefficient queries.</a:t>
            </a:r>
            <a:br>
              <a:rPr lang="en-US" sz="1600"/>
            </a:br>
            <a:r>
              <a:rPr lang="en-US" sz="1600" b="1"/>
              <a:t>Solution </a:t>
            </a:r>
            <a:r>
              <a:rPr lang="en-US" sz="1600"/>
              <a:t>:Rewrote queries, optimized indexing, and simplified logic.</a:t>
            </a:r>
          </a:p>
          <a:p>
            <a:r>
              <a:rPr lang="en-US" sz="1600" b="1"/>
              <a:t>Challenge:</a:t>
            </a:r>
            <a:r>
              <a:rPr lang="en-US" sz="1600"/>
              <a:t> Manual effort in generating SQL.</a:t>
            </a:r>
          </a:p>
          <a:p>
            <a:r>
              <a:rPr lang="en-US" sz="1600" b="1"/>
              <a:t>Solution: </a:t>
            </a:r>
            <a:r>
              <a:rPr lang="en-US" sz="1600"/>
              <a:t>Created a stored procedure, reducing manual work by 70%.</a:t>
            </a:r>
            <a:br>
              <a:rPr lang="en-US" sz="1600"/>
            </a:br>
            <a:r>
              <a:rPr lang="en-US" sz="1600" b="1"/>
              <a:t>Challenge: </a:t>
            </a:r>
            <a:r>
              <a:rPr lang="en-US" sz="1600"/>
              <a:t>Server resource issues during peak periods.</a:t>
            </a:r>
            <a:br>
              <a:rPr lang="en-US" sz="1600"/>
            </a:br>
            <a:r>
              <a:rPr lang="en-US" sz="1600" b="1"/>
              <a:t>Solution: </a:t>
            </a:r>
            <a:r>
              <a:rPr lang="en-US" sz="1600"/>
              <a:t>Collaborated with infrastructure teams to scale resources.</a:t>
            </a:r>
            <a:br>
              <a:rPr lang="en-US" sz="1600"/>
            </a:br>
            <a:r>
              <a:rPr lang="en-US" sz="1600" b="1"/>
              <a:t>Expected vs. </a:t>
            </a:r>
            <a:r>
              <a:rPr lang="en-US" sz="1600" b="1" err="1"/>
              <a:t>Reality:Expected</a:t>
            </a:r>
            <a:r>
              <a:rPr lang="en-US" sz="1600"/>
              <a:t>: Improve query stability and reduce execution times.</a:t>
            </a:r>
          </a:p>
          <a:p>
            <a:r>
              <a:rPr lang="en-US" sz="1600" b="1"/>
              <a:t>Reality: </a:t>
            </a:r>
            <a:r>
              <a:rPr lang="en-US" sz="1600"/>
              <a:t>Achieved 90% reduction in query failures and cut runtimes from 15s to 3s.</a:t>
            </a:r>
          </a:p>
        </p:txBody>
      </p:sp>
    </p:spTree>
    <p:extLst>
      <p:ext uri="{BB962C8B-B14F-4D97-AF65-F5344CB8AC3E}">
        <p14:creationId xmlns:p14="http://schemas.microsoft.com/office/powerpoint/2010/main" val="231240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08F2F-196D-83B9-3C8A-C589D8275C54}"/>
              </a:ext>
            </a:extLst>
          </p:cNvPr>
          <p:cNvSpPr txBox="1">
            <a:spLocks/>
          </p:cNvSpPr>
          <p:nvPr/>
        </p:nvSpPr>
        <p:spPr>
          <a:xfrm>
            <a:off x="839788" y="365125"/>
            <a:ext cx="8414279" cy="1091142"/>
          </a:xfrm>
          <a:prstGeom prst="rect">
            <a:avLst/>
          </a:prstGeom>
        </p:spPr>
        <p:txBody>
          <a:bodyP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mn-lt"/>
              </a:rPr>
              <a:t>Test data Generator</a:t>
            </a:r>
            <a:endParaRPr lang="en-US" b="1" dirty="0">
              <a:latin typeface="+mn-lt"/>
            </a:endParaRPr>
          </a:p>
          <a:p>
            <a:br>
              <a:rPr lang="en-US" b="1" dirty="0">
                <a:latin typeface="+mn-lt"/>
              </a:rPr>
            </a:br>
            <a:r>
              <a:rPr lang="en-US" dirty="0">
                <a:latin typeface="+mn-lt"/>
              </a:rPr>
              <a:t>							</a:t>
            </a:r>
            <a:r>
              <a:rPr lang="en-US" sz="2400" dirty="0">
                <a:latin typeface="+mn-lt"/>
              </a:rPr>
              <a:t>Dominant Goal (Innovation)</a:t>
            </a:r>
          </a:p>
        </p:txBody>
      </p:sp>
      <p:sp>
        <p:nvSpPr>
          <p:cNvPr id="3" name="Text Placeholder 2">
            <a:extLst>
              <a:ext uri="{FF2B5EF4-FFF2-40B4-BE49-F238E27FC236}">
                <a16:creationId xmlns:a16="http://schemas.microsoft.com/office/drawing/2014/main" id="{610DC9F4-2EB6-0004-2218-41FB10670E22}"/>
              </a:ext>
            </a:extLst>
          </p:cNvPr>
          <p:cNvSpPr txBox="1">
            <a:spLocks/>
          </p:cNvSpPr>
          <p:nvPr/>
        </p:nvSpPr>
        <p:spPr>
          <a:xfrm>
            <a:off x="839788" y="1488282"/>
            <a:ext cx="5157787" cy="2247371"/>
          </a:xfrm>
          <a:prstGeom prst="rect">
            <a:avLst/>
          </a:prstGeom>
        </p:spPr>
        <p:txBody>
          <a:bodyPr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dirty="0"/>
              <a:t>Developed a zero-cost AI test data generator using </a:t>
            </a:r>
            <a:r>
              <a:rPr lang="en-US" sz="1600" b="1" dirty="0" err="1"/>
              <a:t>LocalStack</a:t>
            </a:r>
            <a:r>
              <a:rPr lang="en-US" sz="1600" b="1" dirty="0"/>
              <a:t> to address metadata challenges. Collaborated with the ECS UK teams to give demos and help them refine workflows and integrate automation, earning praise for cost-saving innovation. </a:t>
            </a:r>
          </a:p>
        </p:txBody>
      </p:sp>
      <p:sp>
        <p:nvSpPr>
          <p:cNvPr id="4" name="Content Placeholder 3">
            <a:extLst>
              <a:ext uri="{FF2B5EF4-FFF2-40B4-BE49-F238E27FC236}">
                <a16:creationId xmlns:a16="http://schemas.microsoft.com/office/drawing/2014/main" id="{141EC605-0901-0EBB-0B30-5389DBFF0049}"/>
              </a:ext>
            </a:extLst>
          </p:cNvPr>
          <p:cNvSpPr txBox="1">
            <a:spLocks/>
          </p:cNvSpPr>
          <p:nvPr/>
        </p:nvSpPr>
        <p:spPr>
          <a:xfrm>
            <a:off x="865190" y="3970073"/>
            <a:ext cx="5157787" cy="241352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t>Built an initial generator for simple datasets and later expanded its functionality for complex scenarios.</a:t>
            </a:r>
          </a:p>
          <a:p>
            <a:r>
              <a:rPr lang="en-US" sz="1600"/>
              <a:t>Automated metadata extraction to eliminate the need for manual input in </a:t>
            </a:r>
            <a:r>
              <a:rPr lang="en-US" sz="1600" err="1"/>
              <a:t>Jups</a:t>
            </a:r>
            <a:r>
              <a:rPr lang="en-US" sz="1600"/>
              <a:t> and Vanessa’s workflows.</a:t>
            </a:r>
          </a:p>
          <a:p>
            <a:r>
              <a:rPr lang="en-US" sz="1600"/>
              <a:t>Conducted demos for ECS UK, showcasing the cost efficiency of </a:t>
            </a:r>
            <a:r>
              <a:rPr lang="en-US" sz="1600" err="1"/>
              <a:t>LocalStack</a:t>
            </a:r>
            <a:r>
              <a:rPr lang="en-US" sz="1600"/>
              <a:t> implementation..</a:t>
            </a:r>
          </a:p>
        </p:txBody>
      </p:sp>
      <p:sp>
        <p:nvSpPr>
          <p:cNvPr id="5" name="Text Placeholder 4">
            <a:extLst>
              <a:ext uri="{FF2B5EF4-FFF2-40B4-BE49-F238E27FC236}">
                <a16:creationId xmlns:a16="http://schemas.microsoft.com/office/drawing/2014/main" id="{EC65D3C6-9A02-4024-D46A-D4F31A96268C}"/>
              </a:ext>
            </a:extLst>
          </p:cNvPr>
          <p:cNvSpPr txBox="1">
            <a:spLocks/>
          </p:cNvSpPr>
          <p:nvPr/>
        </p:nvSpPr>
        <p:spPr>
          <a:xfrm>
            <a:off x="5997575" y="1387608"/>
            <a:ext cx="5183188" cy="1325562"/>
          </a:xfrm>
          <a:prstGeom prst="rect">
            <a:avLst/>
          </a:prstGeom>
        </p:spPr>
        <p:txBody>
          <a:bodyPr anchor="t">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6400" b="1" dirty="0"/>
              <a:t>The tool delivered exceptional performance by halving the time spent on manual test data creation while incurring no licensing fees, thanks to open-source solutions—an achievement formally recognized by Experian’s ECS UK team..</a:t>
            </a:r>
          </a:p>
          <a:p>
            <a:r>
              <a:rPr lang="en-US" sz="6400" b="1" dirty="0"/>
              <a:t>At the very least, the automated generator should demonstrate a substantial decrease in manual test data generation time (targeting around a 50% reduction) and maintain cost efficiency by avoiding any additional licensing expenses, thereby streamlining operations without extra overhead.</a:t>
            </a:r>
            <a:endParaRPr lang="en-US" sz="6400" dirty="0"/>
          </a:p>
          <a:p>
            <a:endParaRPr lang="en-US" dirty="0"/>
          </a:p>
        </p:txBody>
      </p:sp>
      <p:sp>
        <p:nvSpPr>
          <p:cNvPr id="6" name="TextBox 5">
            <a:extLst>
              <a:ext uri="{FF2B5EF4-FFF2-40B4-BE49-F238E27FC236}">
                <a16:creationId xmlns:a16="http://schemas.microsoft.com/office/drawing/2014/main" id="{41BF358F-028A-0DE6-C533-8EE05FEC1256}"/>
              </a:ext>
            </a:extLst>
          </p:cNvPr>
          <p:cNvSpPr txBox="1"/>
          <p:nvPr/>
        </p:nvSpPr>
        <p:spPr>
          <a:xfrm>
            <a:off x="6194427" y="3716867"/>
            <a:ext cx="5461000" cy="2800767"/>
          </a:xfrm>
          <a:prstGeom prst="rect">
            <a:avLst/>
          </a:prstGeom>
          <a:noFill/>
        </p:spPr>
        <p:txBody>
          <a:bodyPr wrap="square" rtlCol="0">
            <a:spAutoFit/>
          </a:bodyPr>
          <a:lstStyle/>
          <a:p>
            <a:r>
              <a:rPr lang="en-US" sz="1600" b="1" dirty="0"/>
              <a:t>Challenge</a:t>
            </a:r>
            <a:r>
              <a:rPr lang="en-US" sz="1600" dirty="0"/>
              <a:t>: Addressing metadata challenges in test data generation.</a:t>
            </a:r>
          </a:p>
          <a:p>
            <a:r>
              <a:rPr lang="en-US" sz="1600" b="1" dirty="0"/>
              <a:t>Solution</a:t>
            </a:r>
            <a:r>
              <a:rPr lang="en-US" sz="1600" dirty="0"/>
              <a:t>: Built and expanded generator functionality for complex scenarios.</a:t>
            </a:r>
          </a:p>
          <a:p>
            <a:r>
              <a:rPr lang="en-US" sz="1600" b="1" dirty="0"/>
              <a:t>Challenge</a:t>
            </a:r>
            <a:r>
              <a:rPr lang="en-US" sz="1600" dirty="0"/>
              <a:t>: Integrating automation into workflows.</a:t>
            </a:r>
          </a:p>
          <a:p>
            <a:r>
              <a:rPr lang="en-US" sz="1600" b="1" dirty="0"/>
              <a:t>Solution</a:t>
            </a:r>
            <a:r>
              <a:rPr lang="en-US" sz="1600" dirty="0"/>
              <a:t>: Collaborated with ECS UK teams to refine workflows.</a:t>
            </a:r>
          </a:p>
          <a:p>
            <a:r>
              <a:rPr lang="en-US" sz="1600" b="1" dirty="0"/>
              <a:t>Expected vs. </a:t>
            </a:r>
            <a:r>
              <a:rPr lang="en-US" sz="1600" b="1" dirty="0" err="1"/>
              <a:t>Reality:Expected</a:t>
            </a:r>
            <a:r>
              <a:rPr lang="en-US" sz="1600" dirty="0"/>
              <a:t>: Significantly reduce manual efforts and achieve cost neutrality.</a:t>
            </a:r>
          </a:p>
          <a:p>
            <a:r>
              <a:rPr lang="en-US" sz="1600" b="1" dirty="0"/>
              <a:t>Reality</a:t>
            </a:r>
            <a:r>
              <a:rPr lang="en-US" sz="1600" dirty="0"/>
              <a:t>: Reduced manual test data generation time by 50% with zero licensing costs, recognized by ECS UK.</a:t>
            </a:r>
          </a:p>
        </p:txBody>
      </p:sp>
    </p:spTree>
    <p:extLst>
      <p:ext uri="{BB962C8B-B14F-4D97-AF65-F5344CB8AC3E}">
        <p14:creationId xmlns:p14="http://schemas.microsoft.com/office/powerpoint/2010/main" val="1006277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BC6C8-C2F7-DE49-F7F9-D876422DBEC2}"/>
              </a:ext>
            </a:extLst>
          </p:cNvPr>
          <p:cNvSpPr txBox="1">
            <a:spLocks/>
          </p:cNvSpPr>
          <p:nvPr/>
        </p:nvSpPr>
        <p:spPr>
          <a:xfrm>
            <a:off x="839788" y="365125"/>
            <a:ext cx="8414279" cy="1091142"/>
          </a:xfrm>
          <a:prstGeom prst="rect">
            <a:avLst/>
          </a:prstGeom>
        </p:spPr>
        <p:txBody>
          <a:bodyPr>
            <a:normAutofit fontScale="6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n-US"/>
            </a:br>
            <a:r>
              <a:rPr lang="en-US" b="1"/>
              <a:t>Alteryx Migration Project (July – September)</a:t>
            </a:r>
            <a:br>
              <a:rPr lang="en-US" b="1"/>
            </a:br>
            <a:r>
              <a:rPr lang="en-US"/>
              <a:t>								</a:t>
            </a:r>
            <a:r>
              <a:rPr lang="en-US" sz="2400"/>
              <a:t>Core Goal</a:t>
            </a:r>
          </a:p>
        </p:txBody>
      </p:sp>
      <p:sp>
        <p:nvSpPr>
          <p:cNvPr id="3" name="Text Placeholder 2">
            <a:extLst>
              <a:ext uri="{FF2B5EF4-FFF2-40B4-BE49-F238E27FC236}">
                <a16:creationId xmlns:a16="http://schemas.microsoft.com/office/drawing/2014/main" id="{D7EF2F90-F495-E859-C2CA-8C5FBCCD0580}"/>
              </a:ext>
            </a:extLst>
          </p:cNvPr>
          <p:cNvSpPr txBox="1">
            <a:spLocks/>
          </p:cNvSpPr>
          <p:nvPr/>
        </p:nvSpPr>
        <p:spPr>
          <a:xfrm>
            <a:off x="839788" y="1488282"/>
            <a:ext cx="5157787" cy="2247371"/>
          </a:xfrm>
          <a:prstGeom prst="rect">
            <a:avLst/>
          </a:prstGeom>
        </p:spPr>
        <p:txBody>
          <a:bodyPr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a:t>Migrated Alteryx workflows to </a:t>
            </a:r>
            <a:r>
              <a:rPr lang="en-US" sz="1600" b="1" err="1"/>
              <a:t>PySpark</a:t>
            </a:r>
            <a:r>
              <a:rPr lang="en-US" sz="1600" b="1"/>
              <a:t> for the </a:t>
            </a:r>
            <a:r>
              <a:rPr lang="en-US" sz="1600" b="1" err="1"/>
              <a:t>NearTime</a:t>
            </a:r>
            <a:r>
              <a:rPr lang="en-US" sz="1600" b="1"/>
              <a:t> API project, ensuring alignment with the 2025 decommissioning timeline. </a:t>
            </a:r>
          </a:p>
          <a:p>
            <a:r>
              <a:rPr lang="en-US" sz="1600" b="1"/>
              <a:t>Overcame challenges in accessing the servers and also running the workflows with huge data and replicating Alteryx’s data transformation logic within </a:t>
            </a:r>
            <a:r>
              <a:rPr lang="en-US" sz="1600" b="1" err="1"/>
              <a:t>PySpark</a:t>
            </a:r>
            <a:r>
              <a:rPr lang="en-US" sz="1600" b="1"/>
              <a:t> </a:t>
            </a:r>
          </a:p>
        </p:txBody>
      </p:sp>
      <p:sp>
        <p:nvSpPr>
          <p:cNvPr id="4" name="Content Placeholder 3">
            <a:extLst>
              <a:ext uri="{FF2B5EF4-FFF2-40B4-BE49-F238E27FC236}">
                <a16:creationId xmlns:a16="http://schemas.microsoft.com/office/drawing/2014/main" id="{97EDE070-64E6-A65D-3E49-83E4E50F0C49}"/>
              </a:ext>
            </a:extLst>
          </p:cNvPr>
          <p:cNvSpPr txBox="1">
            <a:spLocks/>
          </p:cNvSpPr>
          <p:nvPr/>
        </p:nvSpPr>
        <p:spPr>
          <a:xfrm>
            <a:off x="938214" y="3429000"/>
            <a:ext cx="5157787" cy="241352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t>Converted more than 5 Alteryx workflows to </a:t>
            </a:r>
            <a:r>
              <a:rPr lang="en-US" sz="1600" err="1"/>
              <a:t>PySpark</a:t>
            </a:r>
            <a:r>
              <a:rPr lang="en-US" sz="1600"/>
              <a:t> while ensuring feature parity.</a:t>
            </a:r>
          </a:p>
          <a:p>
            <a:r>
              <a:rPr lang="en-US" sz="1600"/>
              <a:t>Validated outputs against legacy results to ensure complete accuracy.</a:t>
            </a:r>
          </a:p>
          <a:p>
            <a:r>
              <a:rPr lang="en-US" sz="1600"/>
              <a:t>Deployed the migrated workflows to a staging environment, achieving seamless integration..</a:t>
            </a:r>
          </a:p>
        </p:txBody>
      </p:sp>
      <p:sp>
        <p:nvSpPr>
          <p:cNvPr id="5" name="Text Placeholder 4">
            <a:extLst>
              <a:ext uri="{FF2B5EF4-FFF2-40B4-BE49-F238E27FC236}">
                <a16:creationId xmlns:a16="http://schemas.microsoft.com/office/drawing/2014/main" id="{D6530080-AE22-A1D3-AD77-739D03E9908D}"/>
              </a:ext>
            </a:extLst>
          </p:cNvPr>
          <p:cNvSpPr txBox="1">
            <a:spLocks/>
          </p:cNvSpPr>
          <p:nvPr/>
        </p:nvSpPr>
        <p:spPr>
          <a:xfrm>
            <a:off x="5997575" y="1387608"/>
            <a:ext cx="5183188" cy="1325562"/>
          </a:xfrm>
          <a:prstGeom prst="rect">
            <a:avLst/>
          </a:prstGeom>
        </p:spPr>
        <p:txBody>
          <a:bodyPr anchor="t">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6400" b="1"/>
              <a:t>The initiative dramatically improved system stability by reducing query failures by 90% and accelerating average query execution by over 80%, ensuring uninterrupted campaign execution and garnering direct client accolades for rapid issue resolution.</a:t>
            </a:r>
          </a:p>
          <a:p>
            <a:r>
              <a:rPr lang="en-US" sz="6400" b="1"/>
              <a:t>At a minimum, the optimization work must demonstrate clear enhancements in system stability with fewer query failures and a tangible improvement in response times, ensuring that the campaign infrastructure meets basic performance and reliability standards.</a:t>
            </a:r>
          </a:p>
          <a:p>
            <a:endParaRPr lang="en-US" sz="6400"/>
          </a:p>
          <a:p>
            <a:endParaRPr lang="en-US"/>
          </a:p>
        </p:txBody>
      </p:sp>
      <p:sp>
        <p:nvSpPr>
          <p:cNvPr id="6" name="TextBox 5">
            <a:extLst>
              <a:ext uri="{FF2B5EF4-FFF2-40B4-BE49-F238E27FC236}">
                <a16:creationId xmlns:a16="http://schemas.microsoft.com/office/drawing/2014/main" id="{E643AE37-6F2B-59F5-1ABF-C25CE40D56D0}"/>
              </a:ext>
            </a:extLst>
          </p:cNvPr>
          <p:cNvSpPr txBox="1"/>
          <p:nvPr/>
        </p:nvSpPr>
        <p:spPr>
          <a:xfrm>
            <a:off x="6194427" y="3716867"/>
            <a:ext cx="5461000" cy="2062103"/>
          </a:xfrm>
          <a:prstGeom prst="rect">
            <a:avLst/>
          </a:prstGeom>
          <a:noFill/>
        </p:spPr>
        <p:txBody>
          <a:bodyPr wrap="square" rtlCol="0">
            <a:spAutoFit/>
          </a:bodyPr>
          <a:lstStyle/>
          <a:p>
            <a:r>
              <a:rPr lang="en-US" sz="1600" b="1"/>
              <a:t>Challenge: </a:t>
            </a:r>
          </a:p>
          <a:p>
            <a:r>
              <a:rPr lang="en-US" sz="1600"/>
              <a:t>Replicating Alteryx’s data transformation logic in </a:t>
            </a:r>
            <a:r>
              <a:rPr lang="en-US" sz="1600" err="1"/>
              <a:t>PySpark</a:t>
            </a:r>
            <a:r>
              <a:rPr lang="en-US" sz="1600"/>
              <a:t>.</a:t>
            </a:r>
          </a:p>
          <a:p>
            <a:r>
              <a:rPr lang="en-US" sz="1600" b="1"/>
              <a:t>Solution: </a:t>
            </a:r>
            <a:r>
              <a:rPr lang="en-US" sz="1600"/>
              <a:t>Converted 5+ workflows, validated outputs against legacy results</a:t>
            </a:r>
            <a:r>
              <a:rPr lang="en-US" sz="1600" b="1"/>
              <a:t>.</a:t>
            </a:r>
          </a:p>
          <a:p>
            <a:r>
              <a:rPr lang="en-US" sz="1600" b="1"/>
              <a:t>Expected vs. </a:t>
            </a:r>
            <a:r>
              <a:rPr lang="en-US" sz="1600" b="1" err="1"/>
              <a:t>Reality:Expected</a:t>
            </a:r>
            <a:r>
              <a:rPr lang="en-US" sz="1600" b="1"/>
              <a:t>: </a:t>
            </a:r>
            <a:r>
              <a:rPr lang="en-US" sz="1600"/>
              <a:t>Timely migration and complete data accuracy.</a:t>
            </a:r>
          </a:p>
          <a:p>
            <a:r>
              <a:rPr lang="en-US" sz="1600" b="1"/>
              <a:t>Reality: </a:t>
            </a:r>
            <a:r>
              <a:rPr lang="en-US" sz="1600"/>
              <a:t>Completed migration 3 months ahead of schedule with 100% data accuracy</a:t>
            </a:r>
            <a:r>
              <a:rPr lang="en-US" sz="1600" b="1"/>
              <a:t>.</a:t>
            </a:r>
            <a:endParaRPr lang="en-US" sz="1600"/>
          </a:p>
        </p:txBody>
      </p:sp>
    </p:spTree>
    <p:extLst>
      <p:ext uri="{BB962C8B-B14F-4D97-AF65-F5344CB8AC3E}">
        <p14:creationId xmlns:p14="http://schemas.microsoft.com/office/powerpoint/2010/main" val="3272921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8CF3E-2BFA-DE53-22EC-D557BA664840}"/>
              </a:ext>
            </a:extLst>
          </p:cNvPr>
          <p:cNvSpPr txBox="1">
            <a:spLocks/>
          </p:cNvSpPr>
          <p:nvPr/>
        </p:nvSpPr>
        <p:spPr>
          <a:xfrm>
            <a:off x="839788" y="365125"/>
            <a:ext cx="8414279" cy="1091142"/>
          </a:xfrm>
          <a:prstGeom prst="rect">
            <a:avLst/>
          </a:prstGeom>
        </p:spPr>
        <p:txBody>
          <a:bodyP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Alteryx Migration – Audience Engine (October – Present)</a:t>
            </a:r>
          </a:p>
          <a:p>
            <a:br>
              <a:rPr lang="en-US" b="1"/>
            </a:br>
            <a:r>
              <a:rPr lang="en-US"/>
              <a:t>								</a:t>
            </a:r>
            <a:r>
              <a:rPr lang="en-US" sz="2400"/>
              <a:t>Core Goal</a:t>
            </a:r>
          </a:p>
        </p:txBody>
      </p:sp>
      <p:sp>
        <p:nvSpPr>
          <p:cNvPr id="3" name="Text Placeholder 2">
            <a:extLst>
              <a:ext uri="{FF2B5EF4-FFF2-40B4-BE49-F238E27FC236}">
                <a16:creationId xmlns:a16="http://schemas.microsoft.com/office/drawing/2014/main" id="{33D9A216-F124-F1A5-D88E-AC97152BF689}"/>
              </a:ext>
            </a:extLst>
          </p:cNvPr>
          <p:cNvSpPr txBox="1">
            <a:spLocks/>
          </p:cNvSpPr>
          <p:nvPr/>
        </p:nvSpPr>
        <p:spPr>
          <a:xfrm>
            <a:off x="839788" y="1488282"/>
            <a:ext cx="5157787" cy="2247371"/>
          </a:xfrm>
          <a:prstGeom prst="rect">
            <a:avLst/>
          </a:prstGeom>
        </p:spPr>
        <p:txBody>
          <a:bodyPr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a:t>Converted Audience Engine workflows to </a:t>
            </a:r>
            <a:r>
              <a:rPr lang="en-US" sz="1600" b="1" err="1"/>
              <a:t>PySpark</a:t>
            </a:r>
            <a:r>
              <a:rPr lang="en-US" sz="1600" b="1"/>
              <a:t>, addressing challenges posed by large, interlinked datasets. Developed three new macros and 3 modules to manage data segmentation while preserving cross-table dependencies.</a:t>
            </a:r>
          </a:p>
        </p:txBody>
      </p:sp>
      <p:sp>
        <p:nvSpPr>
          <p:cNvPr id="4" name="Content Placeholder 3">
            <a:extLst>
              <a:ext uri="{FF2B5EF4-FFF2-40B4-BE49-F238E27FC236}">
                <a16:creationId xmlns:a16="http://schemas.microsoft.com/office/drawing/2014/main" id="{605D3F24-E468-9E7F-6C05-6AFA5645C771}"/>
              </a:ext>
            </a:extLst>
          </p:cNvPr>
          <p:cNvSpPr txBox="1">
            <a:spLocks/>
          </p:cNvSpPr>
          <p:nvPr/>
        </p:nvSpPr>
        <p:spPr>
          <a:xfrm>
            <a:off x="865190" y="3970073"/>
            <a:ext cx="5157787" cy="241352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a:t>•Segmented datasets without breaking interlinked data dependencies by developing custom logic.	</a:t>
            </a:r>
          </a:p>
          <a:p>
            <a:pPr marL="0" indent="0">
              <a:buNone/>
            </a:pPr>
            <a:r>
              <a:rPr lang="en-US" sz="1600"/>
              <a:t>•Created macros and modules to automate both data partitioning and validation processes.	</a:t>
            </a:r>
          </a:p>
          <a:p>
            <a:pPr marL="0" indent="0">
              <a:buNone/>
            </a:pPr>
            <a:r>
              <a:rPr lang="en-US" sz="1600"/>
              <a:t>•Currently gathering test data for final validation and performance tuning.</a:t>
            </a:r>
          </a:p>
        </p:txBody>
      </p:sp>
      <p:sp>
        <p:nvSpPr>
          <p:cNvPr id="5" name="Text Placeholder 4">
            <a:extLst>
              <a:ext uri="{FF2B5EF4-FFF2-40B4-BE49-F238E27FC236}">
                <a16:creationId xmlns:a16="http://schemas.microsoft.com/office/drawing/2014/main" id="{54F5E27D-CF43-4161-AE5C-15F8F5A2E306}"/>
              </a:ext>
            </a:extLst>
          </p:cNvPr>
          <p:cNvSpPr txBox="1">
            <a:spLocks/>
          </p:cNvSpPr>
          <p:nvPr/>
        </p:nvSpPr>
        <p:spPr>
          <a:xfrm>
            <a:off x="5997575" y="1387608"/>
            <a:ext cx="5183188" cy="1325562"/>
          </a:xfrm>
          <a:prstGeom prst="rect">
            <a:avLst/>
          </a:prstGeom>
        </p:spPr>
        <p:txBody>
          <a:bodyPr anchor="t">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6400" b="1"/>
              <a:t>The project achieved significant performance gains by slashing runtime by 40% post-conversion, all while maintaining flawless data integrity and eliminating risks associated with broken interdependencies during segmentation.</a:t>
            </a:r>
          </a:p>
          <a:p>
            <a:r>
              <a:rPr lang="en-US" sz="6400" b="1"/>
              <a:t>At the very least, the migration should result in a clear reduction in processing time and maintain the integrity of data across segmented tables, ensuring that any performance improvements do not come at the cost of data reliability.</a:t>
            </a:r>
            <a:endParaRPr lang="en-US" sz="6400"/>
          </a:p>
          <a:p>
            <a:endParaRPr lang="en-US"/>
          </a:p>
        </p:txBody>
      </p:sp>
      <p:sp>
        <p:nvSpPr>
          <p:cNvPr id="6" name="TextBox 5">
            <a:extLst>
              <a:ext uri="{FF2B5EF4-FFF2-40B4-BE49-F238E27FC236}">
                <a16:creationId xmlns:a16="http://schemas.microsoft.com/office/drawing/2014/main" id="{91985475-CEB8-E191-546C-B1223EC216D9}"/>
              </a:ext>
            </a:extLst>
          </p:cNvPr>
          <p:cNvSpPr txBox="1"/>
          <p:nvPr/>
        </p:nvSpPr>
        <p:spPr>
          <a:xfrm>
            <a:off x="6194427" y="3523986"/>
            <a:ext cx="5461000" cy="1815882"/>
          </a:xfrm>
          <a:prstGeom prst="rect">
            <a:avLst/>
          </a:prstGeom>
          <a:noFill/>
        </p:spPr>
        <p:txBody>
          <a:bodyPr wrap="square" rtlCol="0">
            <a:spAutoFit/>
          </a:bodyPr>
          <a:lstStyle/>
          <a:p>
            <a:r>
              <a:rPr lang="en-US" sz="1600" b="1"/>
              <a:t>Challenge:</a:t>
            </a:r>
            <a:r>
              <a:rPr lang="en-US" sz="1600"/>
              <a:t> Managing interlinked datasets.</a:t>
            </a:r>
          </a:p>
          <a:p>
            <a:r>
              <a:rPr lang="en-US" sz="1600" b="1"/>
              <a:t>Solution</a:t>
            </a:r>
            <a:r>
              <a:rPr lang="en-US" sz="1600"/>
              <a:t>: Developed custom logic and macros and modules for segmentation and validation.</a:t>
            </a:r>
          </a:p>
          <a:p>
            <a:r>
              <a:rPr lang="en-US" sz="1600" b="1"/>
              <a:t>Expected vs. </a:t>
            </a:r>
            <a:r>
              <a:rPr lang="en-US" sz="1600" b="1" err="1"/>
              <a:t>Reality:Expected</a:t>
            </a:r>
            <a:r>
              <a:rPr lang="en-US" sz="1600"/>
              <a:t>: Improved runtime and preserved data integrity.</a:t>
            </a:r>
          </a:p>
          <a:p>
            <a:r>
              <a:rPr lang="en-US" sz="1600" b="1"/>
              <a:t>Reality</a:t>
            </a:r>
            <a:r>
              <a:rPr lang="en-US" sz="1600"/>
              <a:t>: Reduced workflow runtime by 40% with flawless data integrity.</a:t>
            </a:r>
          </a:p>
        </p:txBody>
      </p:sp>
    </p:spTree>
    <p:extLst>
      <p:ext uri="{BB962C8B-B14F-4D97-AF65-F5344CB8AC3E}">
        <p14:creationId xmlns:p14="http://schemas.microsoft.com/office/powerpoint/2010/main" val="14885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93BF6-458E-9570-0728-E7B8B9E6122D}"/>
              </a:ext>
            </a:extLst>
          </p:cNvPr>
          <p:cNvSpPr txBox="1">
            <a:spLocks/>
          </p:cNvSpPr>
          <p:nvPr/>
        </p:nvSpPr>
        <p:spPr>
          <a:xfrm>
            <a:off x="839788" y="365125"/>
            <a:ext cx="8414279" cy="1091142"/>
          </a:xfrm>
          <a:prstGeom prst="rect">
            <a:avLst/>
          </a:prstGeom>
        </p:spPr>
        <p:txBody>
          <a:bodyP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Hackathon Participation</a:t>
            </a:r>
            <a:br>
              <a:rPr lang="en-US" b="1"/>
            </a:br>
            <a:r>
              <a:rPr lang="en-US"/>
              <a:t>								</a:t>
            </a:r>
            <a:endParaRPr lang="en-US" sz="2400"/>
          </a:p>
        </p:txBody>
      </p:sp>
      <p:sp>
        <p:nvSpPr>
          <p:cNvPr id="3" name="Text Placeholder 2">
            <a:extLst>
              <a:ext uri="{FF2B5EF4-FFF2-40B4-BE49-F238E27FC236}">
                <a16:creationId xmlns:a16="http://schemas.microsoft.com/office/drawing/2014/main" id="{09C7CC69-7373-2E8D-23F2-43CF1927153A}"/>
              </a:ext>
            </a:extLst>
          </p:cNvPr>
          <p:cNvSpPr txBox="1">
            <a:spLocks/>
          </p:cNvSpPr>
          <p:nvPr/>
        </p:nvSpPr>
        <p:spPr>
          <a:xfrm>
            <a:off x="839788" y="1488282"/>
            <a:ext cx="5157787" cy="2247371"/>
          </a:xfrm>
          <a:prstGeom prst="rect">
            <a:avLst/>
          </a:prstGeom>
        </p:spPr>
        <p:txBody>
          <a:bodyPr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a:t>Led two innovative projects—Predictive Spending Analytics (analyzing Rewards data for trends) and AI Policy Validation (blocking restricted terms in vendor contracts). The projects earned an </a:t>
            </a:r>
            <a:r>
              <a:rPr lang="en-US" sz="1600" b="1" err="1"/>
              <a:t>Honourable</a:t>
            </a:r>
            <a:r>
              <a:rPr lang="en-US" sz="1600" b="1"/>
              <a:t> Mention for exceptional quality.. </a:t>
            </a:r>
          </a:p>
        </p:txBody>
      </p:sp>
      <p:sp>
        <p:nvSpPr>
          <p:cNvPr id="4" name="Content Placeholder 3">
            <a:extLst>
              <a:ext uri="{FF2B5EF4-FFF2-40B4-BE49-F238E27FC236}">
                <a16:creationId xmlns:a16="http://schemas.microsoft.com/office/drawing/2014/main" id="{49FE3E6D-42E0-AA23-B17F-EFB68E5D5400}"/>
              </a:ext>
            </a:extLst>
          </p:cNvPr>
          <p:cNvSpPr txBox="1">
            <a:spLocks/>
          </p:cNvSpPr>
          <p:nvPr/>
        </p:nvSpPr>
        <p:spPr>
          <a:xfrm>
            <a:off x="741362" y="2713170"/>
            <a:ext cx="5157787" cy="241352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Trained machine learning models on spending data to forecast trends.	</a:t>
            </a:r>
          </a:p>
          <a:p>
            <a:r>
              <a:rPr lang="en-US" sz="1600" dirty="0"/>
              <a:t>Built an NLP tool to flag non-compliant terms (e.g., “Experian”) in vendor contracts.	</a:t>
            </a:r>
          </a:p>
          <a:p>
            <a:r>
              <a:rPr lang="en-US" sz="1600" dirty="0"/>
              <a:t>Presented actionable insights and innovative solutions to leadership..</a:t>
            </a:r>
          </a:p>
        </p:txBody>
      </p:sp>
      <p:sp>
        <p:nvSpPr>
          <p:cNvPr id="5" name="Text Placeholder 4">
            <a:extLst>
              <a:ext uri="{FF2B5EF4-FFF2-40B4-BE49-F238E27FC236}">
                <a16:creationId xmlns:a16="http://schemas.microsoft.com/office/drawing/2014/main" id="{C01ECB32-81DC-BA88-96DE-BF4F2712AE42}"/>
              </a:ext>
            </a:extLst>
          </p:cNvPr>
          <p:cNvSpPr txBox="1">
            <a:spLocks/>
          </p:cNvSpPr>
          <p:nvPr/>
        </p:nvSpPr>
        <p:spPr>
          <a:xfrm>
            <a:off x="5997575" y="1387608"/>
            <a:ext cx="5183188" cy="1325562"/>
          </a:xfrm>
          <a:prstGeom prst="rect">
            <a:avLst/>
          </a:prstGeom>
        </p:spPr>
        <p:txBody>
          <a:bodyPr anchor="t">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6400" b="1"/>
              <a:t>The projects reached a high standard by validating policies with 95% accuracy using advanced NLP techniques, a performance level that not only met but exceeded expectations—earning formal recognition at the FY25 Hackathon.</a:t>
            </a:r>
          </a:p>
          <a:p>
            <a:r>
              <a:rPr lang="en-US" sz="6400" b="1"/>
              <a:t>The minimum expectation is the creation of a reliable policy validation tool that can consistently flag non-compliant terms at a reasonable accuracy level, ensuring that even if the top-tier performance isn’t reached, the system still provides clear, actionable insights.</a:t>
            </a:r>
            <a:endParaRPr lang="en-US" sz="6400"/>
          </a:p>
          <a:p>
            <a:endParaRPr lang="en-US"/>
          </a:p>
        </p:txBody>
      </p:sp>
      <p:sp>
        <p:nvSpPr>
          <p:cNvPr id="6" name="TextBox 5">
            <a:extLst>
              <a:ext uri="{FF2B5EF4-FFF2-40B4-BE49-F238E27FC236}">
                <a16:creationId xmlns:a16="http://schemas.microsoft.com/office/drawing/2014/main" id="{7F4BEF27-BA54-BCF3-FC0A-21BB2D295F99}"/>
              </a:ext>
            </a:extLst>
          </p:cNvPr>
          <p:cNvSpPr txBox="1"/>
          <p:nvPr/>
        </p:nvSpPr>
        <p:spPr>
          <a:xfrm>
            <a:off x="6194427" y="3564791"/>
            <a:ext cx="5461000" cy="3293209"/>
          </a:xfrm>
          <a:prstGeom prst="rect">
            <a:avLst/>
          </a:prstGeom>
          <a:noFill/>
        </p:spPr>
        <p:txBody>
          <a:bodyPr wrap="square" rtlCol="0">
            <a:spAutoFit/>
          </a:bodyPr>
          <a:lstStyle/>
          <a:p>
            <a:r>
              <a:rPr lang="en-US" sz="1600" b="1" dirty="0"/>
              <a:t>Challenge: </a:t>
            </a:r>
          </a:p>
          <a:p>
            <a:r>
              <a:rPr lang="en-US" sz="1600" dirty="0"/>
              <a:t>Developing accurate ML models for spending trends.</a:t>
            </a:r>
          </a:p>
          <a:p>
            <a:r>
              <a:rPr lang="en-US" sz="1600" dirty="0"/>
              <a:t>Solution: Trained models on spending data to forecast trends.</a:t>
            </a:r>
          </a:p>
          <a:p>
            <a:r>
              <a:rPr lang="en-US" sz="1600" b="1" dirty="0"/>
              <a:t>Challenge: </a:t>
            </a:r>
            <a:r>
              <a:rPr lang="en-US" sz="1600" dirty="0"/>
              <a:t>Building an effective NLP tool for policy validation.</a:t>
            </a:r>
          </a:p>
          <a:p>
            <a:r>
              <a:rPr lang="en-US" sz="1600" b="1" dirty="0"/>
              <a:t>Solution</a:t>
            </a:r>
            <a:r>
              <a:rPr lang="en-US" sz="1600" dirty="0"/>
              <a:t>: Created a tool to flag non-compliant terms in contracts.</a:t>
            </a:r>
          </a:p>
          <a:p>
            <a:r>
              <a:rPr lang="en-US" sz="1600" b="1" dirty="0"/>
              <a:t>Expected vs. </a:t>
            </a:r>
            <a:r>
              <a:rPr lang="en-US" sz="1600" dirty="0"/>
              <a:t>Reality</a:t>
            </a:r>
            <a:r>
              <a:rPr lang="en-US" sz="1600" b="1" dirty="0"/>
              <a:t>:</a:t>
            </a:r>
          </a:p>
          <a:p>
            <a:r>
              <a:rPr lang="en-US" sz="1600" b="1" dirty="0"/>
              <a:t>Expected: </a:t>
            </a:r>
            <a:r>
              <a:rPr lang="en-US" sz="1600" dirty="0"/>
              <a:t>Robust policy validation mechanism with acceptable accuracy.</a:t>
            </a:r>
          </a:p>
          <a:p>
            <a:r>
              <a:rPr lang="en-US" sz="1600" b="1" dirty="0"/>
              <a:t>Reality: </a:t>
            </a:r>
            <a:r>
              <a:rPr lang="en-US" sz="1600" dirty="0"/>
              <a:t>Achieved 95% accuracy in policy validation and received an </a:t>
            </a:r>
            <a:r>
              <a:rPr lang="en-US" sz="1600" dirty="0" err="1"/>
              <a:t>Honourable</a:t>
            </a:r>
            <a:r>
              <a:rPr lang="en-US" sz="1600" dirty="0"/>
              <a:t> Mention</a:t>
            </a:r>
          </a:p>
        </p:txBody>
      </p:sp>
      <p:pic>
        <p:nvPicPr>
          <p:cNvPr id="8" name="Picture 7">
            <a:extLst>
              <a:ext uri="{FF2B5EF4-FFF2-40B4-BE49-F238E27FC236}">
                <a16:creationId xmlns:a16="http://schemas.microsoft.com/office/drawing/2014/main" id="{0697AB33-3A80-37D5-67AC-EC6AEA71B6AD}"/>
              </a:ext>
            </a:extLst>
          </p:cNvPr>
          <p:cNvPicPr>
            <a:picLocks noChangeAspect="1"/>
          </p:cNvPicPr>
          <p:nvPr/>
        </p:nvPicPr>
        <p:blipFill>
          <a:blip r:embed="rId2"/>
          <a:stretch>
            <a:fillRect/>
          </a:stretch>
        </p:blipFill>
        <p:spPr>
          <a:xfrm>
            <a:off x="1960032" y="4310493"/>
            <a:ext cx="3813175" cy="2547507"/>
          </a:xfrm>
          <a:prstGeom prst="rect">
            <a:avLst/>
          </a:prstGeom>
        </p:spPr>
      </p:pic>
    </p:spTree>
    <p:extLst>
      <p:ext uri="{BB962C8B-B14F-4D97-AF65-F5344CB8AC3E}">
        <p14:creationId xmlns:p14="http://schemas.microsoft.com/office/powerpoint/2010/main" val="1169955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DC18-A4F0-179C-9C18-26820039B6E6}"/>
              </a:ext>
            </a:extLst>
          </p:cNvPr>
          <p:cNvSpPr txBox="1">
            <a:spLocks/>
          </p:cNvSpPr>
          <p:nvPr/>
        </p:nvSpPr>
        <p:spPr>
          <a:xfrm>
            <a:off x="839788" y="365125"/>
            <a:ext cx="10515600"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ELSA(February – April)</a:t>
            </a:r>
            <a:br>
              <a:rPr lang="en-US"/>
            </a:br>
            <a:r>
              <a:rPr lang="en-US"/>
              <a:t>								</a:t>
            </a:r>
            <a:r>
              <a:rPr lang="en-US" sz="2400"/>
              <a:t>Core Goal</a:t>
            </a:r>
          </a:p>
        </p:txBody>
      </p:sp>
      <p:sp>
        <p:nvSpPr>
          <p:cNvPr id="3" name="Text Placeholder 2">
            <a:extLst>
              <a:ext uri="{FF2B5EF4-FFF2-40B4-BE49-F238E27FC236}">
                <a16:creationId xmlns:a16="http://schemas.microsoft.com/office/drawing/2014/main" id="{87EB45D0-7652-C26D-4F33-DDA0345E4AF8}"/>
              </a:ext>
            </a:extLst>
          </p:cNvPr>
          <p:cNvSpPr txBox="1">
            <a:spLocks/>
          </p:cNvSpPr>
          <p:nvPr/>
        </p:nvSpPr>
        <p:spPr>
          <a:xfrm>
            <a:off x="938213" y="1681163"/>
            <a:ext cx="5157787" cy="2247371"/>
          </a:xfrm>
          <a:prstGeom prst="rect">
            <a:avLst/>
          </a:prstGeom>
        </p:spPr>
        <p:txBody>
          <a:bodyPr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a:t>Designed ELSA, an AI chatbot for the EMS helpdesk, integrating ServiceNow, Okta, and Azure. Overcame UI deployment challenges and automated daily data syncs from ServiceNow to Azure, enhancing support efficiency.</a:t>
            </a:r>
          </a:p>
        </p:txBody>
      </p:sp>
      <p:sp>
        <p:nvSpPr>
          <p:cNvPr id="4" name="Content Placeholder 3">
            <a:extLst>
              <a:ext uri="{FF2B5EF4-FFF2-40B4-BE49-F238E27FC236}">
                <a16:creationId xmlns:a16="http://schemas.microsoft.com/office/drawing/2014/main" id="{5D27E58E-4049-04B0-7D59-3F5D1F3EE15E}"/>
              </a:ext>
            </a:extLst>
          </p:cNvPr>
          <p:cNvSpPr txBox="1">
            <a:spLocks/>
          </p:cNvSpPr>
          <p:nvPr/>
        </p:nvSpPr>
        <p:spPr>
          <a:xfrm>
            <a:off x="836612" y="3843866"/>
            <a:ext cx="5157787" cy="241352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t>Trained the chatbot using historical ServiceNow tickets via Azure Cognitive Search.	</a:t>
            </a:r>
          </a:p>
          <a:p>
            <a:r>
              <a:rPr lang="en-US" sz="1600"/>
              <a:t>Integrated Okta for secure user authentication.	</a:t>
            </a:r>
          </a:p>
          <a:p>
            <a:r>
              <a:rPr lang="en-US" sz="1600"/>
              <a:t>Automated daily data uploads to Azure Blob Storage, reducing manual updates.	</a:t>
            </a:r>
          </a:p>
          <a:p>
            <a:r>
              <a:rPr lang="en-US" sz="1600"/>
              <a:t>Collaborated with interns to redesign the UI for a modern, user-friendly experience.</a:t>
            </a:r>
          </a:p>
        </p:txBody>
      </p:sp>
      <p:sp>
        <p:nvSpPr>
          <p:cNvPr id="5" name="Text Placeholder 4">
            <a:extLst>
              <a:ext uri="{FF2B5EF4-FFF2-40B4-BE49-F238E27FC236}">
                <a16:creationId xmlns:a16="http://schemas.microsoft.com/office/drawing/2014/main" id="{509F20A5-605C-D848-2AF1-472E4938A2A4}"/>
              </a:ext>
            </a:extLst>
          </p:cNvPr>
          <p:cNvSpPr txBox="1">
            <a:spLocks/>
          </p:cNvSpPr>
          <p:nvPr/>
        </p:nvSpPr>
        <p:spPr>
          <a:xfrm>
            <a:off x="6172200" y="1681163"/>
            <a:ext cx="5183188" cy="1325562"/>
          </a:xfrm>
          <a:prstGeom prst="rect">
            <a:avLst/>
          </a:prstGeom>
        </p:spPr>
        <p:txBody>
          <a:bodyPr anchor="t">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6400" dirty="0"/>
              <a:t>The chatbot significantly improved helpdesk operations by cutting resolution times by 35%, keeping operational costs below $100 per month, and successfully onboarding more than 12 users—demonstrating both efficiency and scalability.</a:t>
            </a:r>
          </a:p>
          <a:p>
            <a:r>
              <a:rPr lang="en-US" sz="6400" dirty="0"/>
              <a:t>At a minimum, the ELSA Chatbot should reduce ticket resolution times and operate cost-effectively, with baseline user adoption targets met to ensure that the tool contributes positively to helpdesk operations without exceeding budget constraints..</a:t>
            </a:r>
          </a:p>
          <a:p>
            <a:endParaRPr lang="en-US" dirty="0"/>
          </a:p>
        </p:txBody>
      </p:sp>
      <p:sp>
        <p:nvSpPr>
          <p:cNvPr id="6" name="Content Placeholder 5">
            <a:extLst>
              <a:ext uri="{FF2B5EF4-FFF2-40B4-BE49-F238E27FC236}">
                <a16:creationId xmlns:a16="http://schemas.microsoft.com/office/drawing/2014/main" id="{FAB5274C-3C44-FE08-4CAA-E12C26D635B5}"/>
              </a:ext>
            </a:extLst>
          </p:cNvPr>
          <p:cNvSpPr txBox="1">
            <a:spLocks/>
          </p:cNvSpPr>
          <p:nvPr/>
        </p:nvSpPr>
        <p:spPr>
          <a:xfrm>
            <a:off x="6169024" y="3656012"/>
            <a:ext cx="5084763" cy="3201988"/>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dirty="0"/>
              <a:t>Challenge</a:t>
            </a:r>
            <a:r>
              <a:rPr lang="en-US" sz="1800" dirty="0"/>
              <a:t>: UI deployment challenges.</a:t>
            </a:r>
          </a:p>
          <a:p>
            <a:r>
              <a:rPr lang="en-US" sz="1800" b="1" dirty="0"/>
              <a:t>Solution: </a:t>
            </a:r>
            <a:r>
              <a:rPr lang="en-US" sz="1800" dirty="0"/>
              <a:t>Collaborated with interns to redesign the UI.</a:t>
            </a:r>
          </a:p>
          <a:p>
            <a:r>
              <a:rPr lang="en-US" sz="1800" b="1" dirty="0"/>
              <a:t>Challenge:</a:t>
            </a:r>
            <a:r>
              <a:rPr lang="en-US" sz="1800" dirty="0"/>
              <a:t> Automating daily data syncs.</a:t>
            </a:r>
          </a:p>
          <a:p>
            <a:r>
              <a:rPr lang="en-US" sz="1800" b="1" dirty="0"/>
              <a:t>Solution: </a:t>
            </a:r>
            <a:r>
              <a:rPr lang="en-US" sz="1800" dirty="0"/>
              <a:t>Automated uploads to Azure Blob Storage.</a:t>
            </a:r>
          </a:p>
          <a:p>
            <a:r>
              <a:rPr lang="en-US" sz="1800" b="1" dirty="0"/>
              <a:t>Expected vs. </a:t>
            </a:r>
            <a:r>
              <a:rPr lang="en-US" sz="1800" b="1" dirty="0" err="1"/>
              <a:t>Reality:Expected</a:t>
            </a:r>
            <a:r>
              <a:rPr lang="en-US" sz="1800" dirty="0"/>
              <a:t>: Measurable improvements in response times and cost efficiency.</a:t>
            </a:r>
          </a:p>
          <a:p>
            <a:r>
              <a:rPr lang="en-US" sz="1800" b="1" dirty="0"/>
              <a:t>Reality: </a:t>
            </a:r>
            <a:r>
              <a:rPr lang="en-US" sz="1800" dirty="0"/>
              <a:t>Reduced ticket resolution time by 35%, costs under $100/month, onboarded 12+ users.</a:t>
            </a:r>
          </a:p>
        </p:txBody>
      </p:sp>
    </p:spTree>
    <p:extLst>
      <p:ext uri="{BB962C8B-B14F-4D97-AF65-F5344CB8AC3E}">
        <p14:creationId xmlns:p14="http://schemas.microsoft.com/office/powerpoint/2010/main" val="2846272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9754F-9BAB-5263-1179-F033B87BFF08}"/>
              </a:ext>
            </a:extLst>
          </p:cNvPr>
          <p:cNvSpPr txBox="1">
            <a:spLocks/>
          </p:cNvSpPr>
          <p:nvPr/>
        </p:nvSpPr>
        <p:spPr>
          <a:xfrm>
            <a:off x="839788" y="365125"/>
            <a:ext cx="8414279" cy="1091142"/>
          </a:xfrm>
          <a:prstGeom prst="rect">
            <a:avLst/>
          </a:prstGeom>
        </p:spPr>
        <p:txBody>
          <a:bodyP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n-US"/>
            </a:br>
            <a:r>
              <a:rPr lang="en-US" b="1"/>
              <a:t>Snowflake Marketplace (January – Present)</a:t>
            </a:r>
            <a:br>
              <a:rPr lang="en-US" b="1"/>
            </a:br>
            <a:r>
              <a:rPr lang="en-US"/>
              <a:t>								</a:t>
            </a:r>
            <a:r>
              <a:rPr lang="en-US" sz="2400"/>
              <a:t>Dominant Goal</a:t>
            </a:r>
          </a:p>
        </p:txBody>
      </p:sp>
      <p:sp>
        <p:nvSpPr>
          <p:cNvPr id="3" name="Text Placeholder 2">
            <a:extLst>
              <a:ext uri="{FF2B5EF4-FFF2-40B4-BE49-F238E27FC236}">
                <a16:creationId xmlns:a16="http://schemas.microsoft.com/office/drawing/2014/main" id="{825DBAE7-6BC6-6F25-BBDC-176ECBF9D1B0}"/>
              </a:ext>
            </a:extLst>
          </p:cNvPr>
          <p:cNvSpPr txBox="1">
            <a:spLocks/>
          </p:cNvSpPr>
          <p:nvPr/>
        </p:nvSpPr>
        <p:spPr>
          <a:xfrm>
            <a:off x="719140" y="1456267"/>
            <a:ext cx="5157787" cy="2247371"/>
          </a:xfrm>
          <a:prstGeom prst="rect">
            <a:avLst/>
          </a:prstGeom>
        </p:spPr>
        <p:txBody>
          <a:bodyPr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dirty="0"/>
              <a:t>Restructured Snowflake data architecture to segregate PII from non-PII data, reducing exposure risks. Currently refining scripts for global postcode directories to further streamline data integration and compliance.. </a:t>
            </a:r>
          </a:p>
        </p:txBody>
      </p:sp>
      <p:sp>
        <p:nvSpPr>
          <p:cNvPr id="4" name="Content Placeholder 3">
            <a:extLst>
              <a:ext uri="{FF2B5EF4-FFF2-40B4-BE49-F238E27FC236}">
                <a16:creationId xmlns:a16="http://schemas.microsoft.com/office/drawing/2014/main" id="{17D34623-C44A-DC98-347A-368D55BF77F0}"/>
              </a:ext>
            </a:extLst>
          </p:cNvPr>
          <p:cNvSpPr txBox="1">
            <a:spLocks/>
          </p:cNvSpPr>
          <p:nvPr/>
        </p:nvSpPr>
        <p:spPr>
          <a:xfrm>
            <a:off x="865190" y="3970073"/>
            <a:ext cx="5157787" cy="241352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Established isolated databases for each country to enforce PII compliance..</a:t>
            </a:r>
          </a:p>
          <a:p>
            <a:r>
              <a:rPr lang="en-US" sz="1600" dirty="0"/>
              <a:t>Audited and updated legacy scripts to align with new security standards.	</a:t>
            </a:r>
          </a:p>
          <a:p>
            <a:r>
              <a:rPr lang="en-US" sz="1600" dirty="0"/>
              <a:t>Awaiting account approval from Ian Coupland for final testing of the new setup..</a:t>
            </a:r>
          </a:p>
        </p:txBody>
      </p:sp>
      <p:sp>
        <p:nvSpPr>
          <p:cNvPr id="5" name="Text Placeholder 4">
            <a:extLst>
              <a:ext uri="{FF2B5EF4-FFF2-40B4-BE49-F238E27FC236}">
                <a16:creationId xmlns:a16="http://schemas.microsoft.com/office/drawing/2014/main" id="{ACF63832-E63A-09C3-6B2B-D5F5C556BA81}"/>
              </a:ext>
            </a:extLst>
          </p:cNvPr>
          <p:cNvSpPr txBox="1">
            <a:spLocks/>
          </p:cNvSpPr>
          <p:nvPr/>
        </p:nvSpPr>
        <p:spPr>
          <a:xfrm>
            <a:off x="5997575" y="1387608"/>
            <a:ext cx="5183188" cy="1325562"/>
          </a:xfrm>
          <a:prstGeom prst="rect">
            <a:avLst/>
          </a:prstGeom>
        </p:spPr>
        <p:txBody>
          <a:bodyPr anchor="t">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6400" b="1" dirty="0"/>
              <a:t>The project excelled by completely segregating sensitive PII from non-PII data, thereby eliminating exposure risks, and by developing more than 10 scripts that enable seamless integration with Snowflake across multiple regions.</a:t>
            </a:r>
          </a:p>
          <a:p>
            <a:r>
              <a:rPr lang="en-US" sz="6400" b="1" dirty="0"/>
              <a:t>At a minimum, the initiative must securely isolate PII from non-sensitive data and prepare a sufficient set of scripts (at least 10) to support Snowflake integration, ensuring that all compliance and operational requirements are met.</a:t>
            </a:r>
            <a:endParaRPr lang="en-US" sz="6400" dirty="0"/>
          </a:p>
          <a:p>
            <a:endParaRPr lang="en-US" dirty="0"/>
          </a:p>
        </p:txBody>
      </p:sp>
      <p:sp>
        <p:nvSpPr>
          <p:cNvPr id="6" name="TextBox 5">
            <a:extLst>
              <a:ext uri="{FF2B5EF4-FFF2-40B4-BE49-F238E27FC236}">
                <a16:creationId xmlns:a16="http://schemas.microsoft.com/office/drawing/2014/main" id="{E0B73635-156B-BE5B-FF38-9735099E47CC}"/>
              </a:ext>
            </a:extLst>
          </p:cNvPr>
          <p:cNvSpPr txBox="1"/>
          <p:nvPr/>
        </p:nvSpPr>
        <p:spPr>
          <a:xfrm>
            <a:off x="6169025" y="3352800"/>
            <a:ext cx="5461000" cy="3293209"/>
          </a:xfrm>
          <a:prstGeom prst="rect">
            <a:avLst/>
          </a:prstGeom>
          <a:noFill/>
        </p:spPr>
        <p:txBody>
          <a:bodyPr wrap="square" rtlCol="0">
            <a:spAutoFit/>
          </a:bodyPr>
          <a:lstStyle/>
          <a:p>
            <a:r>
              <a:rPr lang="en-US" sz="1600" b="1" dirty="0"/>
              <a:t>Challenge</a:t>
            </a:r>
            <a:r>
              <a:rPr lang="en-US" sz="1600" dirty="0"/>
              <a:t> :Frequent job failures due to inefficient queries.</a:t>
            </a:r>
            <a:br>
              <a:rPr lang="en-US" sz="1600" dirty="0"/>
            </a:br>
            <a:r>
              <a:rPr lang="en-US" sz="1600" b="1" dirty="0"/>
              <a:t>Solution </a:t>
            </a:r>
            <a:r>
              <a:rPr lang="en-US" sz="1600" dirty="0"/>
              <a:t>:Rewrote queries, optimized indexing, and simplified logic.</a:t>
            </a:r>
          </a:p>
          <a:p>
            <a:r>
              <a:rPr lang="en-US" sz="1600" b="1" dirty="0"/>
              <a:t>Challenge:</a:t>
            </a:r>
            <a:r>
              <a:rPr lang="en-US" sz="1600" dirty="0"/>
              <a:t> Manual effort in generating SQL.</a:t>
            </a:r>
          </a:p>
          <a:p>
            <a:r>
              <a:rPr lang="en-US" sz="1600" b="1" dirty="0"/>
              <a:t>Solution: </a:t>
            </a:r>
            <a:r>
              <a:rPr lang="en-US" sz="1600" dirty="0"/>
              <a:t>Created a stored procedure, reducing manual work by 70%.</a:t>
            </a:r>
            <a:br>
              <a:rPr lang="en-US" sz="1600" dirty="0"/>
            </a:br>
            <a:r>
              <a:rPr lang="en-US" sz="1600" b="1" dirty="0"/>
              <a:t>Challenge: </a:t>
            </a:r>
            <a:r>
              <a:rPr lang="en-US" sz="1600" dirty="0"/>
              <a:t>Server resource issues during peak periods.</a:t>
            </a:r>
            <a:br>
              <a:rPr lang="en-US" sz="1600" dirty="0"/>
            </a:br>
            <a:r>
              <a:rPr lang="en-US" sz="1600" b="1" dirty="0"/>
              <a:t>Solution: </a:t>
            </a:r>
            <a:r>
              <a:rPr lang="en-US" sz="1600" dirty="0"/>
              <a:t>Collaborated with infrastructure teams to scale resources.</a:t>
            </a:r>
            <a:br>
              <a:rPr lang="en-US" sz="1600" dirty="0"/>
            </a:br>
            <a:r>
              <a:rPr lang="en-US" sz="1600" b="1" dirty="0"/>
              <a:t>Expected vs. </a:t>
            </a:r>
            <a:r>
              <a:rPr lang="en-US" sz="1600" b="1" dirty="0" err="1"/>
              <a:t>Reality:Expected</a:t>
            </a:r>
            <a:r>
              <a:rPr lang="en-US" sz="1600" dirty="0"/>
              <a:t>: Improve query stability and reduce execution times.</a:t>
            </a:r>
          </a:p>
          <a:p>
            <a:r>
              <a:rPr lang="en-US" sz="1600" b="1" dirty="0"/>
              <a:t>Reality: </a:t>
            </a:r>
            <a:r>
              <a:rPr lang="en-US" sz="1600" dirty="0"/>
              <a:t>Achieved 90% reduction in query failures and cut runtimes from 15s to 3s.</a:t>
            </a:r>
          </a:p>
        </p:txBody>
      </p:sp>
    </p:spTree>
    <p:extLst>
      <p:ext uri="{BB962C8B-B14F-4D97-AF65-F5344CB8AC3E}">
        <p14:creationId xmlns:p14="http://schemas.microsoft.com/office/powerpoint/2010/main" val="13463019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AE58F-3F8B-CDBD-C8C0-9686F5271E53}"/>
              </a:ext>
            </a:extLst>
          </p:cNvPr>
          <p:cNvSpPr txBox="1">
            <a:spLocks/>
          </p:cNvSpPr>
          <p:nvPr/>
        </p:nvSpPr>
        <p:spPr>
          <a:xfrm>
            <a:off x="839788" y="365125"/>
            <a:ext cx="8414279" cy="1091142"/>
          </a:xfrm>
          <a:prstGeom prst="rect">
            <a:avLst/>
          </a:prstGeom>
        </p:spPr>
        <p:txBody>
          <a:bodyP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AI-Generated Imagery &amp; Audience Recognition</a:t>
            </a:r>
            <a:br>
              <a:rPr lang="en-US" b="1"/>
            </a:br>
            <a:r>
              <a:rPr lang="en-US"/>
              <a:t>								</a:t>
            </a:r>
            <a:r>
              <a:rPr lang="en-US" sz="2400"/>
              <a:t>Core Goal</a:t>
            </a:r>
          </a:p>
        </p:txBody>
      </p:sp>
      <p:sp>
        <p:nvSpPr>
          <p:cNvPr id="3" name="Text Placeholder 2">
            <a:extLst>
              <a:ext uri="{FF2B5EF4-FFF2-40B4-BE49-F238E27FC236}">
                <a16:creationId xmlns:a16="http://schemas.microsoft.com/office/drawing/2014/main" id="{3603F606-BCAB-A8CF-651E-EC567F089396}"/>
              </a:ext>
            </a:extLst>
          </p:cNvPr>
          <p:cNvSpPr txBox="1">
            <a:spLocks/>
          </p:cNvSpPr>
          <p:nvPr/>
        </p:nvSpPr>
        <p:spPr>
          <a:xfrm>
            <a:off x="839788" y="1488282"/>
            <a:ext cx="5157787" cy="2247371"/>
          </a:xfrm>
          <a:prstGeom prst="rect">
            <a:avLst/>
          </a:prstGeom>
        </p:spPr>
        <p:txBody>
          <a:bodyPr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a:t>AI-Generated Imagery &amp; Audience Recognition. </a:t>
            </a:r>
          </a:p>
        </p:txBody>
      </p:sp>
      <p:sp>
        <p:nvSpPr>
          <p:cNvPr id="4" name="Content Placeholder 3">
            <a:extLst>
              <a:ext uri="{FF2B5EF4-FFF2-40B4-BE49-F238E27FC236}">
                <a16:creationId xmlns:a16="http://schemas.microsoft.com/office/drawing/2014/main" id="{2722C1A5-40FA-398D-CB2B-BEC48EFDE195}"/>
              </a:ext>
            </a:extLst>
          </p:cNvPr>
          <p:cNvSpPr txBox="1">
            <a:spLocks/>
          </p:cNvSpPr>
          <p:nvPr/>
        </p:nvSpPr>
        <p:spPr>
          <a:xfrm>
            <a:off x="865190" y="3970073"/>
            <a:ext cx="5157787" cy="241352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t>Generated over 50 AI images, incorporating variations in gender, age, and ethnicity.</a:t>
            </a:r>
          </a:p>
          <a:p>
            <a:r>
              <a:rPr lang="en-US" sz="1600"/>
              <a:t>Presented results at EMS all-hands meetings, receiving team-wide praise for creativity.</a:t>
            </a:r>
          </a:p>
          <a:p>
            <a:r>
              <a:rPr lang="en-US" sz="1600"/>
              <a:t>Initiated the Audience Recognition project using the enhanced ELSA UI to analyze Mosaic data..</a:t>
            </a:r>
          </a:p>
        </p:txBody>
      </p:sp>
      <p:sp>
        <p:nvSpPr>
          <p:cNvPr id="5" name="Text Placeholder 4">
            <a:extLst>
              <a:ext uri="{FF2B5EF4-FFF2-40B4-BE49-F238E27FC236}">
                <a16:creationId xmlns:a16="http://schemas.microsoft.com/office/drawing/2014/main" id="{AF8C3471-FA3D-3203-1559-2FF772DCB04A}"/>
              </a:ext>
            </a:extLst>
          </p:cNvPr>
          <p:cNvSpPr txBox="1">
            <a:spLocks/>
          </p:cNvSpPr>
          <p:nvPr/>
        </p:nvSpPr>
        <p:spPr>
          <a:xfrm>
            <a:off x="5997575" y="1387608"/>
            <a:ext cx="5183188" cy="1325562"/>
          </a:xfrm>
          <a:prstGeom prst="rect">
            <a:avLst/>
          </a:prstGeom>
        </p:spPr>
        <p:txBody>
          <a:bodyPr anchor="t">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6400" b="1"/>
              <a:t>The initiative achieved remarkable cost efficiency by reducing traditional image creation expenses by 80% through AI, and it successfully reached Stage 1 of the Audience Recognition project, demonstrating a strong commitment to innovation and operational savings.</a:t>
            </a:r>
          </a:p>
          <a:p>
            <a:r>
              <a:rPr lang="en-US" sz="6400" b="1"/>
              <a:t>At a baseline, the project should show a significant reduction in image creation costs relative to conventional methods and deliver a working Stage 1 of the Audience Recognition module, ensuring that both cost-efficiency and initial functionality are in place.</a:t>
            </a:r>
            <a:endParaRPr lang="en-US" sz="6400"/>
          </a:p>
          <a:p>
            <a:endParaRPr lang="en-US"/>
          </a:p>
        </p:txBody>
      </p:sp>
    </p:spTree>
    <p:extLst>
      <p:ext uri="{BB962C8B-B14F-4D97-AF65-F5344CB8AC3E}">
        <p14:creationId xmlns:p14="http://schemas.microsoft.com/office/powerpoint/2010/main" val="3766130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1430</TotalTime>
  <Words>2190</Words>
  <Application>Microsoft Office PowerPoint</Application>
  <PresentationFormat>Widescreen</PresentationFormat>
  <Paragraphs>118</Paragraphs>
  <Slides>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MAGPIE Project (February – April)         Core Goal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Reddy, KalluSrujan</dc:creator>
  <cp:lastModifiedBy>Reddy, KalluSrujan</cp:lastModifiedBy>
  <cp:revision>1</cp:revision>
  <dcterms:created xsi:type="dcterms:W3CDTF">2025-03-05T09:25:43Z</dcterms:created>
  <dcterms:modified xsi:type="dcterms:W3CDTF">2025-03-19T06:00:55Z</dcterms:modified>
</cp:coreProperties>
</file>