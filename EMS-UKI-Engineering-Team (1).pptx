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Instrument Sans Semi Bold"/>
      <p:regular r:id="rId17"/>
    </p:embeddedFont>
    <p:embeddedFont>
      <p:font typeface="Instrument Sans Semi Bold"/>
      <p:regular r:id="rId18"/>
    </p:embeddedFont>
    <p:embeddedFont>
      <p:font typeface="Instrument Sans Semi Bold"/>
      <p:regular r:id="rId19"/>
    </p:embeddedFont>
    <p:embeddedFont>
      <p:font typeface="Instrument Sans Semi Bold"/>
      <p:regular r:id="rId20"/>
    </p:embeddedFont>
    <p:embeddedFont>
      <p:font typeface="Instrument Sans Medium"/>
      <p:regular r:id="rId21"/>
    </p:embeddedFont>
    <p:embeddedFont>
      <p:font typeface="Instrument Sans Medium"/>
      <p:regular r:id="rId22"/>
    </p:embeddedFont>
    <p:embeddedFont>
      <p:font typeface="Instrument Sans Medium"/>
      <p:regular r:id="rId23"/>
    </p:embeddedFont>
    <p:embeddedFont>
      <p:font typeface="Instrument Sans Medium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slideLayout" Target="../slideLayouts/slideLayout10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3537823"/>
            <a:ext cx="724828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EMS UKI Engineering Team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337328"/>
            <a:ext cx="385024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FY2026 Performance Review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2108" y="528042"/>
            <a:ext cx="2795707" cy="360759"/>
          </a:xfrm>
          <a:prstGeom prst="roundRect">
            <a:avLst>
              <a:gd name="adj" fmla="val 38326"/>
            </a:avLst>
          </a:prstGeom>
          <a:solidFill>
            <a:srgbClr val="CEE6FD"/>
          </a:solidFill>
          <a:ln/>
        </p:spPr>
      </p:sp>
      <p:sp>
        <p:nvSpPr>
          <p:cNvPr id="3" name="Text 1"/>
          <p:cNvSpPr/>
          <p:nvPr/>
        </p:nvSpPr>
        <p:spPr>
          <a:xfrm>
            <a:off x="787241" y="585549"/>
            <a:ext cx="2565440" cy="245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ASSOCIATE SOFTWARE ENGINEER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72108" y="965597"/>
            <a:ext cx="4800838" cy="600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700"/>
              </a:lnSpc>
              <a:buNone/>
            </a:pPr>
            <a:r>
              <a:rPr lang="en-US" sz="37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Sravani</a:t>
            </a:r>
            <a:endParaRPr lang="en-US" sz="3750" dirty="0"/>
          </a:p>
        </p:txBody>
      </p:sp>
      <p:sp>
        <p:nvSpPr>
          <p:cNvPr id="5" name="Text 3"/>
          <p:cNvSpPr/>
          <p:nvPr/>
        </p:nvSpPr>
        <p:spPr>
          <a:xfrm>
            <a:off x="672108" y="2045613"/>
            <a:ext cx="2880479" cy="3599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Key Achievements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672108" y="2597468"/>
            <a:ext cx="11222950" cy="307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Consumer Sync EU/UK migrated to AWS (EMR Serverless, Airflow)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72108" y="2971800"/>
            <a:ext cx="11222950" cy="307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Snowflake automation: S3 loading with Lambda/CloudWatch/Splunk monitoring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72108" y="3346133"/>
            <a:ext cx="11222950" cy="307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AI-powered test case generation tool built and deployed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72108" y="3720465"/>
            <a:ext cx="11222950" cy="307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Security tagging &amp; QA team onboarding completed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371070" y="2026444"/>
            <a:ext cx="1594723" cy="307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72108" y="4310777"/>
            <a:ext cx="13286184" cy="3393043"/>
          </a:xfrm>
          <a:prstGeom prst="roundRect">
            <a:avLst>
              <a:gd name="adj" fmla="val 5094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79728" y="4318397"/>
            <a:ext cx="13270944" cy="55268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871895" y="4441150"/>
            <a:ext cx="2266474" cy="307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OKR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529846" y="4441150"/>
            <a:ext cx="2262664" cy="307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What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183987" y="4441150"/>
            <a:ext cx="3589734" cy="307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Done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165199" y="4441150"/>
            <a:ext cx="2262664" cy="307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Impact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819340" y="4441150"/>
            <a:ext cx="939403" cy="307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Status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79728" y="4871085"/>
            <a:ext cx="13270944" cy="85986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871895" y="4993838"/>
            <a:ext cx="2266474" cy="307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OKR1 Growth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529846" y="4993838"/>
            <a:ext cx="2262664" cy="614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Consumer Sync EU/UK Migration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183987" y="4993838"/>
            <a:ext cx="3589734" cy="307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Production deployed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0165199" y="4993838"/>
            <a:ext cx="2262664" cy="614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Infrastructure modernized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819340" y="4993838"/>
            <a:ext cx="939403" cy="307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79728" y="5730954"/>
            <a:ext cx="13270944" cy="85986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871895" y="5853708"/>
            <a:ext cx="2266474" cy="307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OKR1 Growth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3529846" y="5853708"/>
            <a:ext cx="2262664" cy="307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Snowflake data loading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183987" y="5853708"/>
            <a:ext cx="3589734" cy="307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Automated pipeline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0165199" y="5853708"/>
            <a:ext cx="2262664" cy="614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Customer base increased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2819340" y="5853708"/>
            <a:ext cx="939403" cy="307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679728" y="6590824"/>
            <a:ext cx="13270944" cy="55268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871895" y="6713577"/>
            <a:ext cx="2266474" cy="307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OKR2 Innovation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3529846" y="6713577"/>
            <a:ext cx="2262664" cy="307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AI Test Case Generator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183987" y="6713577"/>
            <a:ext cx="3589734" cy="307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Tool deployed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10165199" y="6713577"/>
            <a:ext cx="2262664" cy="307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Automated testing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12819340" y="6713577"/>
            <a:ext cx="939403" cy="307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✓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679728" y="7143512"/>
            <a:ext cx="13270944" cy="55268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871895" y="7266265"/>
            <a:ext cx="2266474" cy="307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OKR3 Efficiency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3529846" y="7266265"/>
            <a:ext cx="2262664" cy="307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Resource tagging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6183987" y="7266265"/>
            <a:ext cx="3589734" cy="307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All processes tagged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10165199" y="7266265"/>
            <a:ext cx="2262664" cy="307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100% compliance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12819340" y="7266265"/>
            <a:ext cx="939403" cy="307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✓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5922" y="599837"/>
            <a:ext cx="1834277" cy="379095"/>
          </a:xfrm>
          <a:prstGeom prst="roundRect">
            <a:avLst>
              <a:gd name="adj" fmla="val 38312"/>
            </a:avLst>
          </a:prstGeom>
          <a:solidFill>
            <a:srgbClr val="CEE6F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6889" y="708660"/>
            <a:ext cx="161330" cy="1613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68824" y="660321"/>
            <a:ext cx="1350407" cy="2581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TOP PERFORMER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705922" y="1059537"/>
            <a:ext cx="5043011" cy="630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950"/>
              </a:lnSpc>
              <a:buNone/>
            </a:pPr>
            <a:r>
              <a:rPr lang="en-US" sz="39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Kallu Srujan Reddy</a:t>
            </a:r>
            <a:endParaRPr lang="en-US" sz="3950" dirty="0"/>
          </a:p>
        </p:txBody>
      </p:sp>
      <p:sp>
        <p:nvSpPr>
          <p:cNvPr id="6" name="Text 3"/>
          <p:cNvSpPr/>
          <p:nvPr/>
        </p:nvSpPr>
        <p:spPr>
          <a:xfrm>
            <a:off x="705922" y="1770578"/>
            <a:ext cx="2521506" cy="315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Software Engineer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705922" y="2489121"/>
            <a:ext cx="3115508" cy="6656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200"/>
              </a:lnSpc>
              <a:buNone/>
            </a:pPr>
            <a:r>
              <a:rPr lang="en-US" sz="5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62.5%</a:t>
            </a:r>
            <a:endParaRPr lang="en-US" sz="5200" dirty="0"/>
          </a:p>
        </p:txBody>
      </p:sp>
      <p:sp>
        <p:nvSpPr>
          <p:cNvPr id="8" name="Text 5"/>
          <p:cNvSpPr/>
          <p:nvPr/>
        </p:nvSpPr>
        <p:spPr>
          <a:xfrm>
            <a:off x="1002863" y="3406854"/>
            <a:ext cx="2521506" cy="315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Runtime Reduced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705922" y="3842980"/>
            <a:ext cx="3115508" cy="322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Audience Engine optimization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4073485" y="2489121"/>
            <a:ext cx="3115628" cy="6656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200"/>
              </a:lnSpc>
              <a:buNone/>
            </a:pPr>
            <a:r>
              <a:rPr lang="en-US" sz="5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97.3%</a:t>
            </a:r>
            <a:endParaRPr lang="en-US" sz="5200" dirty="0"/>
          </a:p>
        </p:txBody>
      </p:sp>
      <p:sp>
        <p:nvSpPr>
          <p:cNvPr id="11" name="Text 8"/>
          <p:cNvSpPr/>
          <p:nvPr/>
        </p:nvSpPr>
        <p:spPr>
          <a:xfrm>
            <a:off x="4370546" y="3406854"/>
            <a:ext cx="2521506" cy="315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Faster Processing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4073485" y="3842980"/>
            <a:ext cx="3115628" cy="322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Digital Taxonomy improvement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7441168" y="2489121"/>
            <a:ext cx="3115628" cy="6656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200"/>
              </a:lnSpc>
              <a:buNone/>
            </a:pPr>
            <a:r>
              <a:rPr lang="en-US" sz="5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60%</a:t>
            </a:r>
            <a:endParaRPr lang="en-US" sz="5200" dirty="0"/>
          </a:p>
        </p:txBody>
      </p:sp>
      <p:sp>
        <p:nvSpPr>
          <p:cNvPr id="14" name="Text 11"/>
          <p:cNvSpPr/>
          <p:nvPr/>
        </p:nvSpPr>
        <p:spPr>
          <a:xfrm>
            <a:off x="7738229" y="3406854"/>
            <a:ext cx="2521506" cy="315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Time Saved</a:t>
            </a:r>
            <a:endParaRPr lang="en-US" sz="1950" dirty="0"/>
          </a:p>
        </p:txBody>
      </p:sp>
      <p:sp>
        <p:nvSpPr>
          <p:cNvPr id="15" name="Text 12"/>
          <p:cNvSpPr/>
          <p:nvPr/>
        </p:nvSpPr>
        <p:spPr>
          <a:xfrm>
            <a:off x="7441168" y="3842980"/>
            <a:ext cx="3115628" cy="322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AI Migration Converter Tool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10808851" y="2489121"/>
            <a:ext cx="3115628" cy="6656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200"/>
              </a:lnSpc>
              <a:buNone/>
            </a:pPr>
            <a:r>
              <a:rPr lang="en-US" sz="5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50+</a:t>
            </a:r>
            <a:endParaRPr lang="en-US" sz="5200" dirty="0"/>
          </a:p>
        </p:txBody>
      </p:sp>
      <p:sp>
        <p:nvSpPr>
          <p:cNvPr id="17" name="Text 14"/>
          <p:cNvSpPr/>
          <p:nvPr/>
        </p:nvSpPr>
        <p:spPr>
          <a:xfrm>
            <a:off x="11105912" y="3406854"/>
            <a:ext cx="2521506" cy="315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Scripts Migrated</a:t>
            </a:r>
            <a:endParaRPr lang="en-US" sz="1950" dirty="0"/>
          </a:p>
        </p:txBody>
      </p:sp>
      <p:sp>
        <p:nvSpPr>
          <p:cNvPr id="18" name="Text 15"/>
          <p:cNvSpPr/>
          <p:nvPr/>
        </p:nvSpPr>
        <p:spPr>
          <a:xfrm>
            <a:off x="10808851" y="3842980"/>
            <a:ext cx="3115628" cy="322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Automated conversion</a:t>
            </a:r>
            <a:endParaRPr lang="en-US" sz="1550" dirty="0"/>
          </a:p>
        </p:txBody>
      </p:sp>
      <p:sp>
        <p:nvSpPr>
          <p:cNvPr id="19" name="Shape 16"/>
          <p:cNvSpPr/>
          <p:nvPr/>
        </p:nvSpPr>
        <p:spPr>
          <a:xfrm>
            <a:off x="705922" y="4392573"/>
            <a:ext cx="13218557" cy="3237071"/>
          </a:xfrm>
          <a:prstGeom prst="roundRect">
            <a:avLst>
              <a:gd name="adj" fmla="val 5608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13542" y="4400193"/>
            <a:ext cx="13203317" cy="57983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1" name="Text 18"/>
          <p:cNvSpPr/>
          <p:nvPr/>
        </p:nvSpPr>
        <p:spPr>
          <a:xfrm>
            <a:off x="915591" y="4528780"/>
            <a:ext cx="2233374" cy="322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OKR</a:t>
            </a:r>
            <a:endParaRPr lang="en-US" sz="1550" dirty="0"/>
          </a:p>
        </p:txBody>
      </p:sp>
      <p:sp>
        <p:nvSpPr>
          <p:cNvPr id="22" name="Text 19"/>
          <p:cNvSpPr/>
          <p:nvPr/>
        </p:nvSpPr>
        <p:spPr>
          <a:xfrm>
            <a:off x="3559969" y="4528780"/>
            <a:ext cx="2229564" cy="322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What</a:t>
            </a:r>
            <a:endParaRPr lang="en-US" sz="1550" dirty="0"/>
          </a:p>
        </p:txBody>
      </p:sp>
      <p:sp>
        <p:nvSpPr>
          <p:cNvPr id="23" name="Text 20"/>
          <p:cNvSpPr/>
          <p:nvPr/>
        </p:nvSpPr>
        <p:spPr>
          <a:xfrm>
            <a:off x="6200537" y="4528780"/>
            <a:ext cx="3549968" cy="322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Done</a:t>
            </a:r>
            <a:endParaRPr lang="en-US" sz="1550" dirty="0"/>
          </a:p>
        </p:txBody>
      </p:sp>
      <p:sp>
        <p:nvSpPr>
          <p:cNvPr id="24" name="Text 21"/>
          <p:cNvSpPr/>
          <p:nvPr/>
        </p:nvSpPr>
        <p:spPr>
          <a:xfrm>
            <a:off x="10161508" y="4528780"/>
            <a:ext cx="2229564" cy="322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Impact</a:t>
            </a:r>
            <a:endParaRPr lang="en-US" sz="1550" dirty="0"/>
          </a:p>
        </p:txBody>
      </p:sp>
      <p:sp>
        <p:nvSpPr>
          <p:cNvPr id="25" name="Text 22"/>
          <p:cNvSpPr/>
          <p:nvPr/>
        </p:nvSpPr>
        <p:spPr>
          <a:xfrm>
            <a:off x="12802076" y="4528780"/>
            <a:ext cx="913090" cy="322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Status</a:t>
            </a:r>
            <a:endParaRPr lang="en-US" sz="1550" dirty="0"/>
          </a:p>
        </p:txBody>
      </p:sp>
      <p:sp>
        <p:nvSpPr>
          <p:cNvPr id="26" name="Shape 23"/>
          <p:cNvSpPr/>
          <p:nvPr/>
        </p:nvSpPr>
        <p:spPr>
          <a:xfrm>
            <a:off x="713542" y="4980027"/>
            <a:ext cx="13203317" cy="90249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7" name="Text 24"/>
          <p:cNvSpPr/>
          <p:nvPr/>
        </p:nvSpPr>
        <p:spPr>
          <a:xfrm>
            <a:off x="915591" y="5108615"/>
            <a:ext cx="2233374" cy="322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OKR1 Growth</a:t>
            </a:r>
            <a:endParaRPr lang="en-US" sz="1550" dirty="0"/>
          </a:p>
        </p:txBody>
      </p:sp>
      <p:sp>
        <p:nvSpPr>
          <p:cNvPr id="28" name="Text 25"/>
          <p:cNvSpPr/>
          <p:nvPr/>
        </p:nvSpPr>
        <p:spPr>
          <a:xfrm>
            <a:off x="3559969" y="5108615"/>
            <a:ext cx="2229564" cy="6453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Consumer Sync + Audience Engine</a:t>
            </a:r>
            <a:endParaRPr lang="en-US" sz="1550" dirty="0"/>
          </a:p>
        </p:txBody>
      </p:sp>
      <p:sp>
        <p:nvSpPr>
          <p:cNvPr id="29" name="Text 26"/>
          <p:cNvSpPr/>
          <p:nvPr/>
        </p:nvSpPr>
        <p:spPr>
          <a:xfrm>
            <a:off x="6200537" y="5108615"/>
            <a:ext cx="3549968" cy="322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8hrs → 2.5hrs optimization</a:t>
            </a:r>
            <a:endParaRPr lang="en-US" sz="1550" dirty="0"/>
          </a:p>
        </p:txBody>
      </p:sp>
      <p:sp>
        <p:nvSpPr>
          <p:cNvPr id="30" name="Text 27"/>
          <p:cNvSpPr/>
          <p:nvPr/>
        </p:nvSpPr>
        <p:spPr>
          <a:xfrm>
            <a:off x="10161508" y="5108615"/>
            <a:ext cx="2229564" cy="322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3x Target achieved</a:t>
            </a:r>
            <a:endParaRPr lang="en-US" sz="1550" dirty="0"/>
          </a:p>
        </p:txBody>
      </p:sp>
      <p:sp>
        <p:nvSpPr>
          <p:cNvPr id="31" name="Text 28"/>
          <p:cNvSpPr/>
          <p:nvPr/>
        </p:nvSpPr>
        <p:spPr>
          <a:xfrm>
            <a:off x="12802076" y="5108615"/>
            <a:ext cx="913090" cy="322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✓</a:t>
            </a:r>
            <a:endParaRPr lang="en-US" sz="1550" dirty="0"/>
          </a:p>
        </p:txBody>
      </p:sp>
      <p:sp>
        <p:nvSpPr>
          <p:cNvPr id="32" name="Shape 29"/>
          <p:cNvSpPr/>
          <p:nvPr/>
        </p:nvSpPr>
        <p:spPr>
          <a:xfrm>
            <a:off x="713542" y="5882521"/>
            <a:ext cx="13203317" cy="57983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3" name="Text 30"/>
          <p:cNvSpPr/>
          <p:nvPr/>
        </p:nvSpPr>
        <p:spPr>
          <a:xfrm>
            <a:off x="915591" y="6011108"/>
            <a:ext cx="2233374" cy="322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OKR2 Innovation</a:t>
            </a:r>
            <a:endParaRPr lang="en-US" sz="1550" dirty="0"/>
          </a:p>
        </p:txBody>
      </p:sp>
      <p:sp>
        <p:nvSpPr>
          <p:cNvPr id="34" name="Text 31"/>
          <p:cNvSpPr/>
          <p:nvPr/>
        </p:nvSpPr>
        <p:spPr>
          <a:xfrm>
            <a:off x="3559969" y="6011108"/>
            <a:ext cx="2229564" cy="322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AI Migration Converter</a:t>
            </a:r>
            <a:endParaRPr lang="en-US" sz="1550" dirty="0"/>
          </a:p>
        </p:txBody>
      </p:sp>
      <p:sp>
        <p:nvSpPr>
          <p:cNvPr id="35" name="Text 32"/>
          <p:cNvSpPr/>
          <p:nvPr/>
        </p:nvSpPr>
        <p:spPr>
          <a:xfrm>
            <a:off x="6200537" y="6011108"/>
            <a:ext cx="3549968" cy="322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50+ scripts converted</a:t>
            </a:r>
            <a:endParaRPr lang="en-US" sz="1550" dirty="0"/>
          </a:p>
        </p:txBody>
      </p:sp>
      <p:sp>
        <p:nvSpPr>
          <p:cNvPr id="36" name="Text 33"/>
          <p:cNvSpPr/>
          <p:nvPr/>
        </p:nvSpPr>
        <p:spPr>
          <a:xfrm>
            <a:off x="10161508" y="6011108"/>
            <a:ext cx="2229564" cy="322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4x Target achieved</a:t>
            </a:r>
            <a:endParaRPr lang="en-US" sz="1550" dirty="0"/>
          </a:p>
        </p:txBody>
      </p:sp>
      <p:sp>
        <p:nvSpPr>
          <p:cNvPr id="37" name="Text 34"/>
          <p:cNvSpPr/>
          <p:nvPr/>
        </p:nvSpPr>
        <p:spPr>
          <a:xfrm>
            <a:off x="12802076" y="6011108"/>
            <a:ext cx="913090" cy="322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✓</a:t>
            </a:r>
            <a:endParaRPr lang="en-US" sz="1550" dirty="0"/>
          </a:p>
        </p:txBody>
      </p:sp>
      <p:sp>
        <p:nvSpPr>
          <p:cNvPr id="38" name="Shape 35"/>
          <p:cNvSpPr/>
          <p:nvPr/>
        </p:nvSpPr>
        <p:spPr>
          <a:xfrm>
            <a:off x="713542" y="6462355"/>
            <a:ext cx="13203317" cy="57983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9" name="Text 36"/>
          <p:cNvSpPr/>
          <p:nvPr/>
        </p:nvSpPr>
        <p:spPr>
          <a:xfrm>
            <a:off x="915591" y="6590943"/>
            <a:ext cx="2233374" cy="322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OKR2 Innovation</a:t>
            </a:r>
            <a:endParaRPr lang="en-US" sz="1550" dirty="0"/>
          </a:p>
        </p:txBody>
      </p:sp>
      <p:sp>
        <p:nvSpPr>
          <p:cNvPr id="40" name="Text 37"/>
          <p:cNvSpPr/>
          <p:nvPr/>
        </p:nvSpPr>
        <p:spPr>
          <a:xfrm>
            <a:off x="3559969" y="6590943"/>
            <a:ext cx="2229564" cy="322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Digital Taxonomy</a:t>
            </a:r>
            <a:endParaRPr lang="en-US" sz="1550" dirty="0"/>
          </a:p>
        </p:txBody>
      </p:sp>
      <p:sp>
        <p:nvSpPr>
          <p:cNvPr id="41" name="Text 38"/>
          <p:cNvSpPr/>
          <p:nvPr/>
        </p:nvSpPr>
        <p:spPr>
          <a:xfrm>
            <a:off x="6200537" y="6590943"/>
            <a:ext cx="3549968" cy="322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5hrs → 8min optimization</a:t>
            </a:r>
            <a:endParaRPr lang="en-US" sz="1550" dirty="0"/>
          </a:p>
        </p:txBody>
      </p:sp>
      <p:sp>
        <p:nvSpPr>
          <p:cNvPr id="42" name="Text 39"/>
          <p:cNvSpPr/>
          <p:nvPr/>
        </p:nvSpPr>
        <p:spPr>
          <a:xfrm>
            <a:off x="10161508" y="6590943"/>
            <a:ext cx="2229564" cy="322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4x Target achieved</a:t>
            </a:r>
            <a:endParaRPr lang="en-US" sz="1550" dirty="0"/>
          </a:p>
        </p:txBody>
      </p:sp>
      <p:sp>
        <p:nvSpPr>
          <p:cNvPr id="43" name="Text 40"/>
          <p:cNvSpPr/>
          <p:nvPr/>
        </p:nvSpPr>
        <p:spPr>
          <a:xfrm>
            <a:off x="12802076" y="6590943"/>
            <a:ext cx="913090" cy="322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✓</a:t>
            </a:r>
            <a:endParaRPr lang="en-US" sz="1550" dirty="0"/>
          </a:p>
        </p:txBody>
      </p:sp>
      <p:sp>
        <p:nvSpPr>
          <p:cNvPr id="44" name="Shape 41"/>
          <p:cNvSpPr/>
          <p:nvPr/>
        </p:nvSpPr>
        <p:spPr>
          <a:xfrm>
            <a:off x="713542" y="7042190"/>
            <a:ext cx="13203317" cy="57983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45" name="Text 42"/>
          <p:cNvSpPr/>
          <p:nvPr/>
        </p:nvSpPr>
        <p:spPr>
          <a:xfrm>
            <a:off x="915591" y="7170777"/>
            <a:ext cx="2233374" cy="322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OKR4 People</a:t>
            </a:r>
            <a:endParaRPr lang="en-US" sz="1550" dirty="0"/>
          </a:p>
        </p:txBody>
      </p:sp>
      <p:sp>
        <p:nvSpPr>
          <p:cNvPr id="46" name="Text 43"/>
          <p:cNvSpPr/>
          <p:nvPr/>
        </p:nvSpPr>
        <p:spPr>
          <a:xfrm>
            <a:off x="3559969" y="7170777"/>
            <a:ext cx="2229564" cy="322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FTE mentoring</a:t>
            </a:r>
            <a:endParaRPr lang="en-US" sz="1550" dirty="0"/>
          </a:p>
        </p:txBody>
      </p:sp>
      <p:sp>
        <p:nvSpPr>
          <p:cNvPr id="47" name="Text 44"/>
          <p:cNvSpPr/>
          <p:nvPr/>
        </p:nvSpPr>
        <p:spPr>
          <a:xfrm>
            <a:off x="6200537" y="7170777"/>
            <a:ext cx="3549968" cy="322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4 engineers trained</a:t>
            </a:r>
            <a:endParaRPr lang="en-US" sz="1550" dirty="0"/>
          </a:p>
        </p:txBody>
      </p:sp>
      <p:sp>
        <p:nvSpPr>
          <p:cNvPr id="48" name="Text 45"/>
          <p:cNvSpPr/>
          <p:nvPr/>
        </p:nvSpPr>
        <p:spPr>
          <a:xfrm>
            <a:off x="10161508" y="7170777"/>
            <a:ext cx="2229564" cy="322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Team upskilled</a:t>
            </a:r>
            <a:endParaRPr lang="en-US" sz="1550" dirty="0"/>
          </a:p>
        </p:txBody>
      </p:sp>
      <p:sp>
        <p:nvSpPr>
          <p:cNvPr id="49" name="Text 46"/>
          <p:cNvSpPr/>
          <p:nvPr/>
        </p:nvSpPr>
        <p:spPr>
          <a:xfrm>
            <a:off x="12802076" y="7170777"/>
            <a:ext cx="913090" cy="322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✓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7115" y="571262"/>
            <a:ext cx="2456617" cy="390406"/>
          </a:xfrm>
          <a:prstGeom prst="roundRect">
            <a:avLst>
              <a:gd name="adj" fmla="val 38314"/>
            </a:avLst>
          </a:prstGeom>
          <a:solidFill>
            <a:srgbClr val="CEE6FD"/>
          </a:solidFill>
          <a:ln/>
        </p:spPr>
      </p:sp>
      <p:sp>
        <p:nvSpPr>
          <p:cNvPr id="3" name="Text 1"/>
          <p:cNvSpPr/>
          <p:nvPr/>
        </p:nvSpPr>
        <p:spPr>
          <a:xfrm>
            <a:off x="851654" y="633532"/>
            <a:ext cx="2207538" cy="2658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SENIOR DEVOPS MANAGER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27115" y="1044654"/>
            <a:ext cx="6765608" cy="649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100"/>
              </a:lnSpc>
              <a:buNone/>
            </a:pPr>
            <a:r>
              <a:rPr lang="en-US" sz="40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Guru Sai Mounika Pothuraju</a:t>
            </a:r>
            <a:endParaRPr lang="en-US" sz="4050" dirty="0"/>
          </a:p>
        </p:txBody>
      </p:sp>
      <p:sp>
        <p:nvSpPr>
          <p:cNvPr id="5" name="Text 3"/>
          <p:cNvSpPr/>
          <p:nvPr/>
        </p:nvSpPr>
        <p:spPr>
          <a:xfrm>
            <a:off x="727115" y="2213015"/>
            <a:ext cx="3116223" cy="389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2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Key Achievements</a:t>
            </a:r>
            <a:endParaRPr lang="en-US" sz="2450" dirty="0"/>
          </a:p>
        </p:txBody>
      </p:sp>
      <p:sp>
        <p:nvSpPr>
          <p:cNvPr id="6" name="Text 4"/>
          <p:cNvSpPr/>
          <p:nvPr/>
        </p:nvSpPr>
        <p:spPr>
          <a:xfrm>
            <a:off x="727115" y="2810113"/>
            <a:ext cx="10028992" cy="332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Enrichment Project: 8 AWS accounts provisioned via Infrastructure as Code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27115" y="3215164"/>
            <a:ext cx="10028992" cy="332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100% pipeline automation using Terraform and Harness - zero manual intervention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27115" y="3620214"/>
            <a:ext cx="10028992" cy="332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Reusable Terraform modules: 50% provisioning time reduction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27115" y="4025265"/>
            <a:ext cx="10028992" cy="332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Managing 7 direct reports plus hiring and Early Careers Program leadership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270456" y="2192298"/>
            <a:ext cx="2640330" cy="332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27115" y="4663916"/>
            <a:ext cx="13176171" cy="2998946"/>
          </a:xfrm>
          <a:prstGeom prst="roundRect">
            <a:avLst>
              <a:gd name="adj" fmla="val 6235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4735" y="4671536"/>
            <a:ext cx="13160931" cy="59674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942737" y="4803696"/>
            <a:ext cx="2213015" cy="332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OKR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578662" y="4803696"/>
            <a:ext cx="2867263" cy="332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What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868835" y="4803696"/>
            <a:ext cx="2867263" cy="332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Done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159008" y="4803696"/>
            <a:ext cx="2209205" cy="332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Impact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791123" y="4803696"/>
            <a:ext cx="896898" cy="332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Status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34735" y="5268278"/>
            <a:ext cx="13160931" cy="59674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942737" y="5400437"/>
            <a:ext cx="2213015" cy="332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OKR1 Growth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578662" y="5400437"/>
            <a:ext cx="2867263" cy="332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ConsumerSync + Enrichment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868835" y="5400437"/>
            <a:ext cx="2867263" cy="332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8 AWS accounts live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159008" y="5400437"/>
            <a:ext cx="2209205" cy="332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Infrastructure scaled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791123" y="5400437"/>
            <a:ext cx="896898" cy="332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✓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34735" y="5865019"/>
            <a:ext cx="13160931" cy="59674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942737" y="5997178"/>
            <a:ext cx="2213015" cy="332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OKR2 Innovation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578662" y="5997178"/>
            <a:ext cx="2867263" cy="332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Terraform modules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868835" y="5997178"/>
            <a:ext cx="2867263" cy="332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Reusable templates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159008" y="5997178"/>
            <a:ext cx="2209205" cy="332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50% time saved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2791123" y="5997178"/>
            <a:ext cx="896898" cy="332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✓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34735" y="6461760"/>
            <a:ext cx="13160931" cy="59674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942737" y="6593919"/>
            <a:ext cx="2213015" cy="332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OKR3 Efficiency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3578662" y="6593919"/>
            <a:ext cx="2867263" cy="332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Pipeline automation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868835" y="6593919"/>
            <a:ext cx="2867263" cy="332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Harness deployment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0159008" y="6593919"/>
            <a:ext cx="2209205" cy="332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0% manual work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2791123" y="6593919"/>
            <a:ext cx="896898" cy="332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✓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734735" y="7058501"/>
            <a:ext cx="13160931" cy="59674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942737" y="7190661"/>
            <a:ext cx="2213015" cy="332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OKR4 People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3578662" y="7190661"/>
            <a:ext cx="2867263" cy="332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Team management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868835" y="7190661"/>
            <a:ext cx="2867263" cy="332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7 reports + hiring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0159008" y="7190661"/>
            <a:ext cx="2209205" cy="332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Team scaled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2791123" y="7190661"/>
            <a:ext cx="896898" cy="332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✓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8661" y="564594"/>
            <a:ext cx="2030492" cy="386001"/>
          </a:xfrm>
          <a:prstGeom prst="roundRect">
            <a:avLst>
              <a:gd name="adj" fmla="val 38302"/>
            </a:avLst>
          </a:prstGeom>
          <a:solidFill>
            <a:srgbClr val="CEE6FD"/>
          </a:solidFill>
          <a:ln/>
        </p:spPr>
      </p:sp>
      <p:sp>
        <p:nvSpPr>
          <p:cNvPr id="3" name="Text 1"/>
          <p:cNvSpPr/>
          <p:nvPr/>
        </p:nvSpPr>
        <p:spPr>
          <a:xfrm>
            <a:off x="841772" y="626150"/>
            <a:ext cx="1784271" cy="2628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SOFTWARE ENGINEER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18661" y="1032629"/>
            <a:ext cx="5133499" cy="641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50"/>
              </a:lnSpc>
              <a:buNone/>
            </a:pPr>
            <a:r>
              <a:rPr lang="en-US" sz="40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Deekshith Akuthota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718661" y="1982272"/>
            <a:ext cx="4260771" cy="1511737"/>
          </a:xfrm>
          <a:prstGeom prst="roundRect">
            <a:avLst>
              <a:gd name="adj" fmla="val 12225"/>
            </a:avLst>
          </a:prstGeom>
          <a:solidFill>
            <a:srgbClr val="CEE6FD"/>
          </a:solidFill>
          <a:ln/>
        </p:spPr>
      </p:sp>
      <p:sp>
        <p:nvSpPr>
          <p:cNvPr id="6" name="Text 4"/>
          <p:cNvSpPr/>
          <p:nvPr/>
        </p:nvSpPr>
        <p:spPr>
          <a:xfrm>
            <a:off x="923925" y="2187535"/>
            <a:ext cx="2566749" cy="320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6 Marketplaces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23925" y="2631519"/>
            <a:ext cx="3850243" cy="657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Migrated to AWS with dashboards for production deployment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184696" y="1982272"/>
            <a:ext cx="4260890" cy="1511737"/>
          </a:xfrm>
          <a:prstGeom prst="roundRect">
            <a:avLst>
              <a:gd name="adj" fmla="val 12225"/>
            </a:avLst>
          </a:prstGeom>
          <a:solidFill>
            <a:srgbClr val="CEE6FD"/>
          </a:solidFill>
          <a:ln/>
        </p:spPr>
      </p:sp>
      <p:sp>
        <p:nvSpPr>
          <p:cNvPr id="9" name="Text 7"/>
          <p:cNvSpPr/>
          <p:nvPr/>
        </p:nvSpPr>
        <p:spPr>
          <a:xfrm>
            <a:off x="5389959" y="2187535"/>
            <a:ext cx="2566749" cy="320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Local Dev Setup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389959" y="2631519"/>
            <a:ext cx="3850362" cy="657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30% faster iteration, $125/month cost savings achieved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650849" y="1982272"/>
            <a:ext cx="4260890" cy="1511737"/>
          </a:xfrm>
          <a:prstGeom prst="roundRect">
            <a:avLst>
              <a:gd name="adj" fmla="val 12225"/>
            </a:avLst>
          </a:prstGeom>
          <a:solidFill>
            <a:srgbClr val="CEE6FD"/>
          </a:solidFill>
          <a:ln/>
        </p:spPr>
      </p:sp>
      <p:sp>
        <p:nvSpPr>
          <p:cNvPr id="12" name="Text 10"/>
          <p:cNvSpPr/>
          <p:nvPr/>
        </p:nvSpPr>
        <p:spPr>
          <a:xfrm>
            <a:off x="9856113" y="2187535"/>
            <a:ext cx="2566749" cy="320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AI Doc Generator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9856113" y="2631519"/>
            <a:ext cx="3850362" cy="657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2 hours saved per PBI with automated documentation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18661" y="3724989"/>
            <a:ext cx="13193078" cy="3951446"/>
          </a:xfrm>
          <a:prstGeom prst="roundRect">
            <a:avLst>
              <a:gd name="adj" fmla="val 4677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26281" y="3732609"/>
            <a:ext cx="13177837" cy="59007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931545" y="3863340"/>
            <a:ext cx="2221230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OKR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570922" y="3863340"/>
            <a:ext cx="2217420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What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206490" y="3863340"/>
            <a:ext cx="3535204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Done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159841" y="3863340"/>
            <a:ext cx="2217420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Impact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795409" y="3863340"/>
            <a:ext cx="903446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Status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26281" y="4322683"/>
            <a:ext cx="13177837" cy="91868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931545" y="4453414"/>
            <a:ext cx="2221230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OKR1 Growth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570922" y="4453414"/>
            <a:ext cx="2217420" cy="657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6 Marketplaces migration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206490" y="4453414"/>
            <a:ext cx="3535204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AWS production deployed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159841" y="4453414"/>
            <a:ext cx="2217420" cy="657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Modernization complete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2795409" y="4453414"/>
            <a:ext cx="903446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✓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26281" y="5241369"/>
            <a:ext cx="13177837" cy="91868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931545" y="5372100"/>
            <a:ext cx="2221230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OKR2 Innovation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3570922" y="5372100"/>
            <a:ext cx="2217420" cy="657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AI Migration Doc Generator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206490" y="5372100"/>
            <a:ext cx="3535204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Automated documentation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0159841" y="5372100"/>
            <a:ext cx="2217420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2 hrs saved per PBI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2795409" y="5372100"/>
            <a:ext cx="903446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✓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26281" y="6160056"/>
            <a:ext cx="13177837" cy="91868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931545" y="6290786"/>
            <a:ext cx="2221230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OKR3 Efficiency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3570922" y="6290786"/>
            <a:ext cx="2217420" cy="657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Local dev + housekeeping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206490" y="6290786"/>
            <a:ext cx="3535204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Environment optimized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0159841" y="6290786"/>
            <a:ext cx="2217420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$125/mo, 30% faster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2795409" y="6290786"/>
            <a:ext cx="903446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✓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726281" y="7078742"/>
            <a:ext cx="13177837" cy="59007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931545" y="7209473"/>
            <a:ext cx="2221230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OKR4 People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3570922" y="7209473"/>
            <a:ext cx="2217420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Skill development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206490" y="7209473"/>
            <a:ext cx="3535204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Spark course completed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0159841" y="7209473"/>
            <a:ext cx="2217420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Technical growth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2795409" y="7209473"/>
            <a:ext cx="903446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✓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7819" y="802124"/>
            <a:ext cx="2693908" cy="347901"/>
          </a:xfrm>
          <a:prstGeom prst="roundRect">
            <a:avLst>
              <a:gd name="adj" fmla="val 38306"/>
            </a:avLst>
          </a:prstGeom>
          <a:solidFill>
            <a:srgbClr val="CEE6FD"/>
          </a:solidFill>
          <a:ln/>
        </p:spPr>
      </p:sp>
      <p:sp>
        <p:nvSpPr>
          <p:cNvPr id="3" name="Text 1"/>
          <p:cNvSpPr/>
          <p:nvPr/>
        </p:nvSpPr>
        <p:spPr>
          <a:xfrm>
            <a:off x="758785" y="857607"/>
            <a:ext cx="2471976" cy="236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ASSOCIATE SOFTWARE ENGINEER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47819" y="1223963"/>
            <a:ext cx="4627245" cy="578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550"/>
              </a:lnSpc>
              <a:buNone/>
            </a:pPr>
            <a:r>
              <a:rPr lang="en-US" sz="36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Bachu Anirudhraj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7819" y="2264807"/>
            <a:ext cx="2776299" cy="347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Key Achievements</a:t>
            </a:r>
            <a:endParaRPr lang="en-US" sz="2150" dirty="0"/>
          </a:p>
        </p:txBody>
      </p:sp>
      <p:sp>
        <p:nvSpPr>
          <p:cNvPr id="6" name="Text 4"/>
          <p:cNvSpPr/>
          <p:nvPr/>
        </p:nvSpPr>
        <p:spPr>
          <a:xfrm>
            <a:off x="647819" y="2796897"/>
            <a:ext cx="9750266" cy="296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AWS Migration: EU Test, Matchback, and Publisher Process (MPDL) completed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47819" y="3157895"/>
            <a:ext cx="9750266" cy="296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Vulnerability fixes across all environments achieving EGSO compliance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47819" y="3518892"/>
            <a:ext cx="9750266" cy="296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Snowflake: Automated weekly S3 ingestion with Production databases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47819" y="3879890"/>
            <a:ext cx="9750266" cy="296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AI Audience Recognition Engine with secure authentication and PPT generation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10857190" y="2246352"/>
            <a:ext cx="3132892" cy="296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47819" y="4449008"/>
            <a:ext cx="13334762" cy="2978468"/>
          </a:xfrm>
          <a:prstGeom prst="roundRect">
            <a:avLst>
              <a:gd name="adj" fmla="val 5593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5439" y="4456628"/>
            <a:ext cx="13319522" cy="53340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840462" y="4575215"/>
            <a:ext cx="2290048" cy="296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OKR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3508177" y="4575215"/>
            <a:ext cx="2286238" cy="296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What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172081" y="4575215"/>
            <a:ext cx="3618190" cy="296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Done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10167938" y="4575215"/>
            <a:ext cx="2286238" cy="296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Impact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2831842" y="4575215"/>
            <a:ext cx="958096" cy="296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Status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655439" y="4990028"/>
            <a:ext cx="13319522" cy="82962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840462" y="5108615"/>
            <a:ext cx="2290048" cy="296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OKR1 Growth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3508177" y="5108615"/>
            <a:ext cx="2286238" cy="592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EU Test, Matchback, MPDL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172081" y="5108615"/>
            <a:ext cx="3618190" cy="296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AWS migration completed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10167938" y="5108615"/>
            <a:ext cx="2286238" cy="296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Legacy replaced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2831842" y="5108615"/>
            <a:ext cx="958096" cy="296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✓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655439" y="5819656"/>
            <a:ext cx="13319522" cy="53340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840462" y="5938242"/>
            <a:ext cx="2290048" cy="296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OKR1 Growth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3508177" y="5938242"/>
            <a:ext cx="2286238" cy="296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Snowflake backend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6172081" y="5938242"/>
            <a:ext cx="3618190" cy="296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Weekly automation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10167938" y="5938242"/>
            <a:ext cx="2286238" cy="296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Data pipeline live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12831842" y="5938242"/>
            <a:ext cx="958096" cy="296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✓</a:t>
            </a:r>
            <a:endParaRPr lang="en-US" sz="1450" dirty="0"/>
          </a:p>
        </p:txBody>
      </p:sp>
      <p:sp>
        <p:nvSpPr>
          <p:cNvPr id="30" name="Shape 28"/>
          <p:cNvSpPr/>
          <p:nvPr/>
        </p:nvSpPr>
        <p:spPr>
          <a:xfrm>
            <a:off x="655439" y="6353056"/>
            <a:ext cx="13319522" cy="53340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840462" y="6471642"/>
            <a:ext cx="2290048" cy="296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OKR2 Innovation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3508177" y="6471642"/>
            <a:ext cx="2286238" cy="296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AI Audience Recognition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6172081" y="6471642"/>
            <a:ext cx="3618190" cy="296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Secure web app built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10167938" y="6471642"/>
            <a:ext cx="2286238" cy="296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Automated insights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12831842" y="6471642"/>
            <a:ext cx="958096" cy="296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✓</a:t>
            </a:r>
            <a:endParaRPr lang="en-US" sz="1450" dirty="0"/>
          </a:p>
        </p:txBody>
      </p:sp>
      <p:sp>
        <p:nvSpPr>
          <p:cNvPr id="36" name="Shape 34"/>
          <p:cNvSpPr/>
          <p:nvPr/>
        </p:nvSpPr>
        <p:spPr>
          <a:xfrm>
            <a:off x="655439" y="6886456"/>
            <a:ext cx="13319522" cy="53340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840462" y="7005042"/>
            <a:ext cx="2290048" cy="296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OKR3 Efficiency</a:t>
            </a:r>
            <a:endParaRPr lang="en-US" sz="1450" dirty="0"/>
          </a:p>
        </p:txBody>
      </p:sp>
      <p:sp>
        <p:nvSpPr>
          <p:cNvPr id="38" name="Text 36"/>
          <p:cNvSpPr/>
          <p:nvPr/>
        </p:nvSpPr>
        <p:spPr>
          <a:xfrm>
            <a:off x="3508177" y="7005042"/>
            <a:ext cx="2286238" cy="296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Vulnerability remediation</a:t>
            </a:r>
            <a:endParaRPr lang="en-US" sz="1450" dirty="0"/>
          </a:p>
        </p:txBody>
      </p:sp>
      <p:sp>
        <p:nvSpPr>
          <p:cNvPr id="39" name="Text 37"/>
          <p:cNvSpPr/>
          <p:nvPr/>
        </p:nvSpPr>
        <p:spPr>
          <a:xfrm>
            <a:off x="6172081" y="7005042"/>
            <a:ext cx="3618190" cy="296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Dev/UAT/Prod fixed</a:t>
            </a:r>
            <a:endParaRPr lang="en-US" sz="1450" dirty="0"/>
          </a:p>
        </p:txBody>
      </p:sp>
      <p:sp>
        <p:nvSpPr>
          <p:cNvPr id="40" name="Text 38"/>
          <p:cNvSpPr/>
          <p:nvPr/>
        </p:nvSpPr>
        <p:spPr>
          <a:xfrm>
            <a:off x="10167938" y="7005042"/>
            <a:ext cx="2286238" cy="296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100% EGSO compliant</a:t>
            </a:r>
            <a:endParaRPr lang="en-US" sz="1450" dirty="0"/>
          </a:p>
        </p:txBody>
      </p:sp>
      <p:sp>
        <p:nvSpPr>
          <p:cNvPr id="41" name="Text 39"/>
          <p:cNvSpPr/>
          <p:nvPr/>
        </p:nvSpPr>
        <p:spPr>
          <a:xfrm>
            <a:off x="12831842" y="7005042"/>
            <a:ext cx="958096" cy="296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✓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45356"/>
            <a:ext cx="721078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Team Performance Metrics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221111"/>
            <a:ext cx="3048000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50+</a:t>
            </a:r>
            <a:endParaRPr lang="en-US" sz="5850" dirty="0"/>
          </a:p>
        </p:txBody>
      </p:sp>
      <p:sp>
        <p:nvSpPr>
          <p:cNvPr id="4" name="Text 2"/>
          <p:cNvSpPr/>
          <p:nvPr/>
        </p:nvSpPr>
        <p:spPr>
          <a:xfrm>
            <a:off x="900113" y="325290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Scripts Migrated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3743325"/>
            <a:ext cx="304800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AI-powered conversion tools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4125278" y="2221111"/>
            <a:ext cx="304811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97.3%</a:t>
            </a:r>
            <a:endParaRPr lang="en-US" sz="5850" dirty="0"/>
          </a:p>
        </p:txBody>
      </p:sp>
      <p:sp>
        <p:nvSpPr>
          <p:cNvPr id="7" name="Text 5"/>
          <p:cNvSpPr/>
          <p:nvPr/>
        </p:nvSpPr>
        <p:spPr>
          <a:xfrm>
            <a:off x="4231719" y="325290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Efficiency Gain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125278" y="3743325"/>
            <a:ext cx="304811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Digital Taxonomy optimization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456884" y="2221111"/>
            <a:ext cx="304811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62.5%</a:t>
            </a:r>
            <a:endParaRPr lang="en-US" sz="5850" dirty="0"/>
          </a:p>
        </p:txBody>
      </p:sp>
      <p:sp>
        <p:nvSpPr>
          <p:cNvPr id="10" name="Text 8"/>
          <p:cNvSpPr/>
          <p:nvPr/>
        </p:nvSpPr>
        <p:spPr>
          <a:xfrm>
            <a:off x="7563326" y="325290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Runtime Reduced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456884" y="3743325"/>
            <a:ext cx="304811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Audience Engine performance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10788491" y="2221111"/>
            <a:ext cx="304811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$125</a:t>
            </a:r>
            <a:endParaRPr lang="en-US" sz="5850" dirty="0"/>
          </a:p>
        </p:txBody>
      </p:sp>
      <p:sp>
        <p:nvSpPr>
          <p:cNvPr id="13" name="Text 11"/>
          <p:cNvSpPr/>
          <p:nvPr/>
        </p:nvSpPr>
        <p:spPr>
          <a:xfrm>
            <a:off x="10894933" y="325290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Monthly Savings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788491" y="3743325"/>
            <a:ext cx="304811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Per engineer cost reduction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4125278" y="5036106"/>
            <a:ext cx="304811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100%</a:t>
            </a:r>
            <a:endParaRPr lang="en-US" sz="5850" dirty="0"/>
          </a:p>
        </p:txBody>
      </p:sp>
      <p:sp>
        <p:nvSpPr>
          <p:cNvPr id="16" name="Text 14"/>
          <p:cNvSpPr/>
          <p:nvPr/>
        </p:nvSpPr>
        <p:spPr>
          <a:xfrm>
            <a:off x="4231719" y="606790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Compliance Rate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125278" y="6558320"/>
            <a:ext cx="304811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Security and vulnerability management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7456884" y="5036106"/>
            <a:ext cx="304811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0%</a:t>
            </a:r>
            <a:endParaRPr lang="en-US" sz="5850" dirty="0"/>
          </a:p>
        </p:txBody>
      </p:sp>
      <p:sp>
        <p:nvSpPr>
          <p:cNvPr id="19" name="Text 17"/>
          <p:cNvSpPr/>
          <p:nvPr/>
        </p:nvSpPr>
        <p:spPr>
          <a:xfrm>
            <a:off x="7563326" y="606790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Manual Work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456884" y="6558320"/>
            <a:ext cx="304811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Full pipeline automation achieved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55765"/>
            <a:ext cx="761738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OKR Achievement Summary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518172"/>
            <a:ext cx="13042821" cy="4355544"/>
          </a:xfrm>
          <a:prstGeom prst="roundRect">
            <a:avLst>
              <a:gd name="adj" fmla="val 4687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1410" y="2525792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28581" y="2669500"/>
            <a:ext cx="21480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OKR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3637836" y="2669500"/>
            <a:ext cx="21441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Target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6243280" y="2669500"/>
            <a:ext cx="409836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Team Result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10802898" y="2669500"/>
            <a:ext cx="149280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Achievement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12756952" y="2669500"/>
            <a:ext cx="84522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Status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801410" y="3176111"/>
            <a:ext cx="13027581" cy="101322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028581" y="3319820"/>
            <a:ext cx="21480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OKR1 Growth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3637836" y="3319820"/>
            <a:ext cx="21441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100% on-time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6243280" y="3319820"/>
            <a:ext cx="409836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Consumer Sync, Enrichment, 6 Marketplaces delivered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10802898" y="3319820"/>
            <a:ext cx="149280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Exceeded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12756952" y="3319820"/>
            <a:ext cx="84522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✓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801410" y="4189333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028581" y="4333042"/>
            <a:ext cx="21480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OKR2 Innovation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3637836" y="4333042"/>
            <a:ext cx="21441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25% improvement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6243280" y="4333042"/>
            <a:ext cx="409836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AI tools built, 97.3% efficiency achieved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10802898" y="4333042"/>
            <a:ext cx="149280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4x Target</a:t>
            </a:r>
            <a:endParaRPr lang="en-US" sz="1750" dirty="0"/>
          </a:p>
        </p:txBody>
      </p:sp>
      <p:sp>
        <p:nvSpPr>
          <p:cNvPr id="21" name="Text 19"/>
          <p:cNvSpPr/>
          <p:nvPr/>
        </p:nvSpPr>
        <p:spPr>
          <a:xfrm>
            <a:off x="12756952" y="4333042"/>
            <a:ext cx="84522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✓</a:t>
            </a:r>
            <a:endParaRPr lang="en-US" sz="1750" dirty="0"/>
          </a:p>
        </p:txBody>
      </p:sp>
      <p:sp>
        <p:nvSpPr>
          <p:cNvPr id="22" name="Shape 20"/>
          <p:cNvSpPr/>
          <p:nvPr/>
        </p:nvSpPr>
        <p:spPr>
          <a:xfrm>
            <a:off x="801410" y="4839653"/>
            <a:ext cx="13027581" cy="101322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1028581" y="4983361"/>
            <a:ext cx="21480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OKR3 Efficiency</a:t>
            </a:r>
            <a:endParaRPr lang="en-US" sz="1750" dirty="0"/>
          </a:p>
        </p:txBody>
      </p:sp>
      <p:sp>
        <p:nvSpPr>
          <p:cNvPr id="24" name="Text 22"/>
          <p:cNvSpPr/>
          <p:nvPr/>
        </p:nvSpPr>
        <p:spPr>
          <a:xfrm>
            <a:off x="3637836" y="4983361"/>
            <a:ext cx="21441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20% reduction</a:t>
            </a:r>
            <a:endParaRPr lang="en-US" sz="1750" dirty="0"/>
          </a:p>
        </p:txBody>
      </p:sp>
      <p:sp>
        <p:nvSpPr>
          <p:cNvPr id="25" name="Text 23"/>
          <p:cNvSpPr/>
          <p:nvPr/>
        </p:nvSpPr>
        <p:spPr>
          <a:xfrm>
            <a:off x="6243280" y="4983361"/>
            <a:ext cx="409836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100% automation, $125/month saved per engineer</a:t>
            </a:r>
            <a:endParaRPr lang="en-US" sz="1750" dirty="0"/>
          </a:p>
        </p:txBody>
      </p:sp>
      <p:sp>
        <p:nvSpPr>
          <p:cNvPr id="26" name="Text 24"/>
          <p:cNvSpPr/>
          <p:nvPr/>
        </p:nvSpPr>
        <p:spPr>
          <a:xfrm>
            <a:off x="10802898" y="4983361"/>
            <a:ext cx="149280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Exceeded</a:t>
            </a:r>
            <a:endParaRPr lang="en-US" sz="1750" dirty="0"/>
          </a:p>
        </p:txBody>
      </p:sp>
      <p:sp>
        <p:nvSpPr>
          <p:cNvPr id="27" name="Text 25"/>
          <p:cNvSpPr/>
          <p:nvPr/>
        </p:nvSpPr>
        <p:spPr>
          <a:xfrm>
            <a:off x="12756952" y="4983361"/>
            <a:ext cx="84522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✓</a:t>
            </a:r>
            <a:endParaRPr lang="en-US" sz="1750" dirty="0"/>
          </a:p>
        </p:txBody>
      </p:sp>
      <p:sp>
        <p:nvSpPr>
          <p:cNvPr id="28" name="Shape 26"/>
          <p:cNvSpPr/>
          <p:nvPr/>
        </p:nvSpPr>
        <p:spPr>
          <a:xfrm>
            <a:off x="801410" y="5852874"/>
            <a:ext cx="13027581" cy="101322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1028581" y="5996583"/>
            <a:ext cx="21480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OKR4 People</a:t>
            </a:r>
            <a:endParaRPr lang="en-US" sz="1750" dirty="0"/>
          </a:p>
        </p:txBody>
      </p:sp>
      <p:sp>
        <p:nvSpPr>
          <p:cNvPr id="30" name="Text 28"/>
          <p:cNvSpPr/>
          <p:nvPr/>
        </p:nvSpPr>
        <p:spPr>
          <a:xfrm>
            <a:off x="3637836" y="5996583"/>
            <a:ext cx="21441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Talent development</a:t>
            </a:r>
            <a:endParaRPr lang="en-US" sz="1750" dirty="0"/>
          </a:p>
        </p:txBody>
      </p:sp>
      <p:sp>
        <p:nvSpPr>
          <p:cNvPr id="31" name="Text 29"/>
          <p:cNvSpPr/>
          <p:nvPr/>
        </p:nvSpPr>
        <p:spPr>
          <a:xfrm>
            <a:off x="6243280" y="5996583"/>
            <a:ext cx="409836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4 FTEs mentored, 7 direct reports managed</a:t>
            </a:r>
            <a:endParaRPr lang="en-US" sz="1750" dirty="0"/>
          </a:p>
        </p:txBody>
      </p:sp>
      <p:sp>
        <p:nvSpPr>
          <p:cNvPr id="32" name="Text 30"/>
          <p:cNvSpPr/>
          <p:nvPr/>
        </p:nvSpPr>
        <p:spPr>
          <a:xfrm>
            <a:off x="10802898" y="5996583"/>
            <a:ext cx="149280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Achieved</a:t>
            </a:r>
            <a:endParaRPr lang="en-US" sz="1750" dirty="0"/>
          </a:p>
        </p:txBody>
      </p:sp>
      <p:sp>
        <p:nvSpPr>
          <p:cNvPr id="33" name="Text 31"/>
          <p:cNvSpPr/>
          <p:nvPr/>
        </p:nvSpPr>
        <p:spPr>
          <a:xfrm>
            <a:off x="12756952" y="5996583"/>
            <a:ext cx="84522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✓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6526" y="611981"/>
            <a:ext cx="5548789" cy="693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50"/>
              </a:lnSpc>
              <a:buNone/>
            </a:pPr>
            <a:r>
              <a:rPr lang="en-US" sz="43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Innovation Highlights</a:t>
            </a:r>
            <a:endParaRPr lang="en-US" sz="4350" dirty="0"/>
          </a:p>
        </p:txBody>
      </p:sp>
      <p:sp>
        <p:nvSpPr>
          <p:cNvPr id="3" name="Shape 1"/>
          <p:cNvSpPr/>
          <p:nvPr/>
        </p:nvSpPr>
        <p:spPr>
          <a:xfrm>
            <a:off x="776526" y="1749028"/>
            <a:ext cx="6427708" cy="2521029"/>
          </a:xfrm>
          <a:prstGeom prst="roundRect">
            <a:avLst>
              <a:gd name="adj" fmla="val 7922"/>
            </a:avLst>
          </a:prstGeom>
          <a:solidFill>
            <a:srgbClr val="CEE6FD"/>
          </a:solidFill>
          <a:ln/>
        </p:spPr>
      </p:sp>
      <p:sp>
        <p:nvSpPr>
          <p:cNvPr id="4" name="Shape 2"/>
          <p:cNvSpPr/>
          <p:nvPr/>
        </p:nvSpPr>
        <p:spPr>
          <a:xfrm>
            <a:off x="998339" y="1970842"/>
            <a:ext cx="665678" cy="665678"/>
          </a:xfrm>
          <a:prstGeom prst="roundRect">
            <a:avLst>
              <a:gd name="adj" fmla="val 13734997"/>
            </a:avLst>
          </a:prstGeom>
          <a:solidFill>
            <a:srgbClr val="84C1F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81457" y="2153841"/>
            <a:ext cx="299442" cy="29944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98339" y="2858333"/>
            <a:ext cx="277368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AI Migration Tools</a:t>
            </a:r>
            <a:endParaRPr lang="en-US" sz="2150" dirty="0"/>
          </a:p>
        </p:txBody>
      </p:sp>
      <p:sp>
        <p:nvSpPr>
          <p:cNvPr id="7" name="Text 4"/>
          <p:cNvSpPr/>
          <p:nvPr/>
        </p:nvSpPr>
        <p:spPr>
          <a:xfrm>
            <a:off x="998339" y="3338155"/>
            <a:ext cx="5984081" cy="7100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Automated 50+ script conversions saving 60% development time across all projects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7426047" y="1749028"/>
            <a:ext cx="6427827" cy="2521029"/>
          </a:xfrm>
          <a:prstGeom prst="roundRect">
            <a:avLst>
              <a:gd name="adj" fmla="val 7922"/>
            </a:avLst>
          </a:prstGeom>
          <a:solidFill>
            <a:srgbClr val="CEE6FD"/>
          </a:solidFill>
          <a:ln/>
        </p:spPr>
      </p:sp>
      <p:sp>
        <p:nvSpPr>
          <p:cNvPr id="9" name="Shape 6"/>
          <p:cNvSpPr/>
          <p:nvPr/>
        </p:nvSpPr>
        <p:spPr>
          <a:xfrm>
            <a:off x="7647861" y="1970842"/>
            <a:ext cx="665678" cy="665678"/>
          </a:xfrm>
          <a:prstGeom prst="roundRect">
            <a:avLst>
              <a:gd name="adj" fmla="val 13734997"/>
            </a:avLst>
          </a:prstGeom>
          <a:solidFill>
            <a:srgbClr val="84C1FA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30979" y="2153841"/>
            <a:ext cx="299442" cy="29944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47861" y="2858333"/>
            <a:ext cx="277368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AI Documentation</a:t>
            </a:r>
            <a:endParaRPr lang="en-US" sz="2150" dirty="0"/>
          </a:p>
        </p:txBody>
      </p:sp>
      <p:sp>
        <p:nvSpPr>
          <p:cNvPr id="12" name="Text 8"/>
          <p:cNvSpPr/>
          <p:nvPr/>
        </p:nvSpPr>
        <p:spPr>
          <a:xfrm>
            <a:off x="7647861" y="3338155"/>
            <a:ext cx="5984200" cy="7100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Automated PBI documentation saving 2 hours per task with quality improvements</a:t>
            </a:r>
            <a:endParaRPr lang="en-US" sz="1700" dirty="0"/>
          </a:p>
        </p:txBody>
      </p:sp>
      <p:sp>
        <p:nvSpPr>
          <p:cNvPr id="13" name="Shape 9"/>
          <p:cNvSpPr/>
          <p:nvPr/>
        </p:nvSpPr>
        <p:spPr>
          <a:xfrm>
            <a:off x="776526" y="4491871"/>
            <a:ext cx="6427708" cy="2521029"/>
          </a:xfrm>
          <a:prstGeom prst="roundRect">
            <a:avLst>
              <a:gd name="adj" fmla="val 7922"/>
            </a:avLst>
          </a:prstGeom>
          <a:solidFill>
            <a:srgbClr val="CEE6FD"/>
          </a:solidFill>
          <a:ln/>
        </p:spPr>
      </p:sp>
      <p:sp>
        <p:nvSpPr>
          <p:cNvPr id="14" name="Shape 10"/>
          <p:cNvSpPr/>
          <p:nvPr/>
        </p:nvSpPr>
        <p:spPr>
          <a:xfrm>
            <a:off x="998339" y="4713684"/>
            <a:ext cx="665678" cy="665678"/>
          </a:xfrm>
          <a:prstGeom prst="roundRect">
            <a:avLst>
              <a:gd name="adj" fmla="val 13734997"/>
            </a:avLst>
          </a:prstGeom>
          <a:solidFill>
            <a:srgbClr val="84C1FA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81457" y="4896683"/>
            <a:ext cx="299442" cy="29944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98339" y="5601176"/>
            <a:ext cx="277368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AI Test Generation</a:t>
            </a:r>
            <a:endParaRPr lang="en-US" sz="2150" dirty="0"/>
          </a:p>
        </p:txBody>
      </p:sp>
      <p:sp>
        <p:nvSpPr>
          <p:cNvPr id="17" name="Text 12"/>
          <p:cNvSpPr/>
          <p:nvPr/>
        </p:nvSpPr>
        <p:spPr>
          <a:xfrm>
            <a:off x="998339" y="6080998"/>
            <a:ext cx="5984081" cy="7100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Automated test case creation reducing manual QA effort significantly</a:t>
            </a:r>
            <a:endParaRPr lang="en-US" sz="1700" dirty="0"/>
          </a:p>
        </p:txBody>
      </p:sp>
      <p:sp>
        <p:nvSpPr>
          <p:cNvPr id="18" name="Shape 13"/>
          <p:cNvSpPr/>
          <p:nvPr/>
        </p:nvSpPr>
        <p:spPr>
          <a:xfrm>
            <a:off x="7426047" y="4491871"/>
            <a:ext cx="6427827" cy="2521029"/>
          </a:xfrm>
          <a:prstGeom prst="roundRect">
            <a:avLst>
              <a:gd name="adj" fmla="val 7922"/>
            </a:avLst>
          </a:prstGeom>
          <a:solidFill>
            <a:srgbClr val="CEE6FD"/>
          </a:solidFill>
          <a:ln/>
        </p:spPr>
      </p:sp>
      <p:sp>
        <p:nvSpPr>
          <p:cNvPr id="19" name="Shape 14"/>
          <p:cNvSpPr/>
          <p:nvPr/>
        </p:nvSpPr>
        <p:spPr>
          <a:xfrm>
            <a:off x="7647861" y="4713684"/>
            <a:ext cx="665678" cy="665678"/>
          </a:xfrm>
          <a:prstGeom prst="roundRect">
            <a:avLst>
              <a:gd name="adj" fmla="val 13734997"/>
            </a:avLst>
          </a:prstGeom>
          <a:solidFill>
            <a:srgbClr val="84C1FA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830979" y="4896683"/>
            <a:ext cx="299442" cy="29944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647861" y="5601176"/>
            <a:ext cx="2879765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Audience Recognition</a:t>
            </a:r>
            <a:endParaRPr lang="en-US" sz="2150" dirty="0"/>
          </a:p>
        </p:txBody>
      </p:sp>
      <p:sp>
        <p:nvSpPr>
          <p:cNvPr id="22" name="Text 16"/>
          <p:cNvSpPr/>
          <p:nvPr/>
        </p:nvSpPr>
        <p:spPr>
          <a:xfrm>
            <a:off x="7647861" y="6080998"/>
            <a:ext cx="5984200" cy="7100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Secure AI engine with automated PPT generation for business insights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776526" y="7262455"/>
            <a:ext cx="13077349" cy="3550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team's innovation focus delivered 4x the target improvement through strategic AI tool development and deployment.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68668"/>
            <a:ext cx="785491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Leadership Recommendation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133951" y="2186226"/>
            <a:ext cx="1270265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"This 5-member team exceeded every FY2026 OKR. Delivered 50+ AWS migrations with 100% on-time delivery, achieved 97.3% efficiency gains (4x target), built AI tools saving hours per PBI, and maintained 100% security compliance."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1931075"/>
            <a:ext cx="30480" cy="1236107"/>
          </a:xfrm>
          <a:prstGeom prst="rect">
            <a:avLst/>
          </a:prstGeom>
          <a:solidFill>
            <a:srgbClr val="84C1FA"/>
          </a:solidFill>
          <a:ln/>
        </p:spPr>
      </p:sp>
      <p:sp>
        <p:nvSpPr>
          <p:cNvPr id="5" name="Shape 3"/>
          <p:cNvSpPr/>
          <p:nvPr/>
        </p:nvSpPr>
        <p:spPr>
          <a:xfrm>
            <a:off x="793790" y="3422333"/>
            <a:ext cx="4196358" cy="2456617"/>
          </a:xfrm>
          <a:prstGeom prst="roundRect">
            <a:avLst>
              <a:gd name="adj" fmla="val 8310"/>
            </a:avLst>
          </a:prstGeom>
          <a:solidFill>
            <a:srgbClr val="FFFFFF"/>
          </a:solidFill>
          <a:ln w="30480">
            <a:solidFill>
              <a:srgbClr val="B4CC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084" y="3679627"/>
            <a:ext cx="337982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Exceptional Performance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51084" y="4170045"/>
            <a:ext cx="368177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All OKRs exceeded with measurable business impact across growth, innovation, and efficiency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16962" y="3422333"/>
            <a:ext cx="4196358" cy="2456617"/>
          </a:xfrm>
          <a:prstGeom prst="roundRect">
            <a:avLst>
              <a:gd name="adj" fmla="val 8310"/>
            </a:avLst>
          </a:prstGeom>
          <a:solidFill>
            <a:srgbClr val="FFFFFF"/>
          </a:solidFill>
          <a:ln w="30480">
            <a:solidFill>
              <a:srgbClr val="B4CCE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74256" y="3679627"/>
            <a:ext cx="294167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Innovation Leadership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474256" y="4170045"/>
            <a:ext cx="368177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Pioneered AI-powered tools that transformed development efficiency and quality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9640133" y="3422333"/>
            <a:ext cx="4196358" cy="2456617"/>
          </a:xfrm>
          <a:prstGeom prst="roundRect">
            <a:avLst>
              <a:gd name="adj" fmla="val 8310"/>
            </a:avLst>
          </a:prstGeom>
          <a:solidFill>
            <a:srgbClr val="FFFFFF"/>
          </a:solidFill>
          <a:ln w="30480">
            <a:solidFill>
              <a:srgbClr val="B4CC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897427" y="367962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Team Development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9897427" y="4170045"/>
            <a:ext cx="368177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Successfully mentored and scaled team capabilities while managing critical projects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793790" y="6134100"/>
            <a:ext cx="13042821" cy="1326713"/>
          </a:xfrm>
          <a:prstGeom prst="roundRect">
            <a:avLst>
              <a:gd name="adj" fmla="val 15387"/>
            </a:avLst>
          </a:prstGeom>
          <a:solidFill>
            <a:srgbClr val="B5DAFC"/>
          </a:solidFill>
          <a:ln/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0604" y="6478191"/>
            <a:ext cx="283488" cy="226814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530906" y="6417588"/>
            <a:ext cx="1207889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Recommendation: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Strongly recommend formal recognition and performance rewards for this exceptional team achievement.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2026-01-05T11:09:03Z</dcterms:created>
  <dcterms:modified xsi:type="dcterms:W3CDTF">2026-01-05T11:09:03Z</dcterms:modified>
</cp:coreProperties>
</file>